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br/>
            <a:r>
              <a:t>Welcome. Today I present EasyCircular, an AI-assisted web system for summarising Sri Lankan Ministry of Education circular PDFs.</a:t>
            </a:r>
            <a:br/>
            <a:r>
              <a:t>I am G G M P Kusumsiri, student ID 2540881, supervised by Mr. Anuruddha Abeysinghe, under Dr. Gayana Fernando, University of Bedfordshire.</a:t>
            </a:r>
            <a:br/>
            <a:r>
              <a:t>This is a seven-minute overview of motivation, method, contribution, and evaluation. A separate video covers the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br/>
            <a:r>
              <a:t>Education circulars from Sri Lanka’s Ministry of Education are dense policy PDFs. Staff must find dates, duties, and legal references quickly, but meaning is easy to miss when documents are long or only skimmed via WhatsApp.</a:t>
            </a:r>
            <a:br/>
            <a:r>
              <a:t>Our survey of 41 school stakeholders showed almost everyone wants a summary feature, 97.6%, yet 68.3% were unwilling to trust AI without safeguards. That motivates a privacy-aware, human-in-the-loop design.</a:t>
            </a:r>
            <a:br/>
            <a:r>
              <a:t>EasyCircular never replaces the PDF; it helps people navigate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br/>
            <a:r>
              <a:t>The project aim is a practical NLP web app for MOE circulars.</a:t>
            </a:r>
            <a:br/>
            <a:r>
              <a:t>Five objectives: study suitable NLP methods; build secure upload and OCR with a forced human review step; highlight entities such as dates and organisations; summarise with guardrails against hallucination; and evaluate accuracy and stakeholder need with ROUGE, tests, and a survey.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br/>
            <a:r>
              <a:t>Literature points to LLMs for abstractive long-document summarisation, often via map-reduce chunking.</a:t>
            </a:r>
            <a:br/>
            <a:r>
              <a:t>Extractive methods are safer but less fluent; abstractive methods risk inventing dates, unacceptable for circulars.</a:t>
            </a:r>
            <a:br/>
            <a:r>
              <a:t>NER helps surface actionable entities. Sinhala and Tamil OCR remain harder, so a human review gate is justified.</a:t>
            </a:r>
            <a:br/>
            <a:r>
              <a:t>We use ROUGE as a standard automatic metric, while acknowledging it does not prove legal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seconds]</a:t>
            </a:r>
            <a:br/>
            <a:r>
              <a:t>We followed an agile plan over about ten weeks across five phases.</a:t>
            </a:r>
            <a:br/>
            <a:r>
              <a:t>Tech stack: Next.js and TypeScript on the frontend; Express.js with JWT for the API; FastAPI for the AI service; MongoDB for data; Docker Compose for deployment.</a:t>
            </a:r>
            <a:br/>
            <a:r>
              <a:t>AI layer uses Tesseract OCR for Sinhala, English and Tamil, SpaCy for NER, LangChain map-reduce for summarisation, and optional local Ollama for privacy.</a:t>
            </a:r>
            <a:br/>
            <a:r>
              <a:t>Pipeline: upload or MOE import; extract text; human review; NER; summarise; date guardrails; extractive fallback if needed.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br/>
            <a:r>
              <a:t>The contribution is not a general chatbot. It is a purpose-built, self-hostable pipeline for MOE circulars.</a:t>
            </a:r>
            <a:br/>
            <a:r>
              <a:t>Two safety ideas matter most: users must approve extracted text before summarisation, and date guardrails catch invented deadlines, about fifteen percent of LLM summaries were rejected, then replaced by extractive fallback.</a:t>
            </a:r>
            <a:br/>
            <a:r>
              <a:t>Outputs are structured for school staff, with entity highlights and practical import/export.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seconds]</a:t>
            </a:r>
            <a:br/>
            <a:r>
              <a:t>Evaluation has four strands.</a:t>
            </a:r>
            <a:br/>
            <a:r>
              <a:t>Survey: 97.6% want summaries; 78% find entity highlighting and efficiency gains useful.</a:t>
            </a:r>
            <a:br/>
            <a:r>
              <a:t>ROUGE on six gold circulars in fallback mode: R-1 0.414, R-2 0.215, R-L 0.292, useful as overlap evidence, not as legal proof.</a:t>
            </a:r>
            <a:br/>
            <a:r>
              <a:t>Latency: digital extract about 1.2 seconds, OCR about 6.8, cold LLM 8 to 15 seconds, cached re-process about 114 milliseconds.</a:t>
            </a:r>
            <a:br/>
            <a:r>
              <a:t>Automated tests: thirty-five of thirty-five in the conference suite, and ninety-one AI pytest cases. Formal school UAT remains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br/>
            <a:r>
              <a:t>Limitations: bilingual NER is incomplete; OCR still needs humans; the ROUGE set is small; UAT with schools is pending; guardrails help but are not perfect.</a:t>
            </a:r>
            <a:br/>
            <a:r>
              <a:t>Next: richer SI/TA NLP, larger evaluation, async processing, roles and analytics, and production deployment with possible MOE integration.</a:t>
            </a:r>
            <a:br/>
            <a:r>
              <a:t>Thank you, happy to take questions. Demonstration is in the accompanying video.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548640"/>
            <a:ext cx="3474720" cy="3474720"/>
          </a:xfrm>
          <a:prstGeom prst="ellipse">
            <a:avLst/>
          </a:prstGeom>
          <a:solidFill>
            <a:srgbClr val="2C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3200400"/>
            <a:ext cx="2377440" cy="2377440"/>
          </a:xfrm>
          <a:prstGeom prst="ellipse">
            <a:avLst/>
          </a:prstGeom>
          <a:solidFill>
            <a:srgbClr val="254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0" y="1645920"/>
            <a:ext cx="1280160" cy="128016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0" y="822960"/>
            <a:ext cx="640080" cy="64008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234440"/>
            <a:ext cx="8686800" cy="822960"/>
          </a:xfrm>
          <a:prstGeom prst="rect">
            <a:avLst/>
          </a:prstGeom>
          <a:noFill/>
        </p:spPr>
        <p:txBody>
          <a:bodyPr wrap="none">
            <a:spAutoFit/>
          </a:bodyPr>
          <a:lstStyle/>
          <a:p>
            <a:r>
              <a:rPr sz="4800" b="1">
                <a:solidFill>
                  <a:srgbClr val="FFFFFF"/>
                </a:solidFill>
                <a:latin typeface="Georgia"/>
              </a:rPr>
              <a:t>EasyCircular</a:t>
            </a:r>
          </a:p>
        </p:txBody>
      </p:sp>
      <p:sp>
        <p:nvSpPr>
          <p:cNvPr id="9" name="TextBox 8"/>
          <p:cNvSpPr txBox="1"/>
          <p:nvPr/>
        </p:nvSpPr>
        <p:spPr>
          <a:xfrm>
            <a:off x="777240" y="2103120"/>
            <a:ext cx="8229600" cy="1005840"/>
          </a:xfrm>
          <a:prstGeom prst="rect">
            <a:avLst/>
          </a:prstGeom>
          <a:noFill/>
        </p:spPr>
        <p:txBody>
          <a:bodyPr wrap="square">
            <a:spAutoFit/>
          </a:bodyPr>
          <a:lstStyle/>
          <a:p>
            <a:r>
              <a:rPr sz="2400" b="0">
                <a:solidFill>
                  <a:srgbClr val="C8D4E0"/>
                </a:solidFill>
                <a:latin typeface="Georgia"/>
              </a:rPr>
              <a:t>AI-Assisted Summarisation of
Sri Lankan MOE Circulars</a:t>
            </a:r>
          </a:p>
        </p:txBody>
      </p:sp>
      <p:sp>
        <p:nvSpPr>
          <p:cNvPr id="10" name="Rounded Rectangle 9"/>
          <p:cNvSpPr/>
          <p:nvPr/>
        </p:nvSpPr>
        <p:spPr>
          <a:xfrm>
            <a:off x="777240" y="3977639"/>
            <a:ext cx="6583680" cy="2148840"/>
          </a:xfrm>
          <a:prstGeom prst="roundRect">
            <a:avLst>
              <a:gd name="adj" fmla="val 8000"/>
            </a:avLst>
          </a:prstGeom>
          <a:solidFill>
            <a:srgbClr val="173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977639"/>
            <a:ext cx="91440" cy="2148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160520"/>
            <a:ext cx="6035040" cy="1828800"/>
          </a:xfrm>
          <a:prstGeom prst="rect">
            <a:avLst/>
          </a:prstGeom>
          <a:noFill/>
        </p:spPr>
        <p:txBody>
          <a:bodyPr wrap="square">
            <a:spAutoFit/>
          </a:bodyPr>
          <a:lstStyle/>
          <a:p>
            <a:pPr>
              <a:spcAft>
                <a:spcPts val="400"/>
              </a:spcAft>
            </a:pPr>
            <a:r>
              <a:rPr sz="1500" b="1">
                <a:solidFill>
                  <a:srgbClr val="FFFFFF"/>
                </a:solidFill>
                <a:latin typeface="Calibri"/>
              </a:rPr>
              <a:t>G G M P Kusumsiri  ·  2540881</a:t>
            </a:r>
          </a:p>
          <a:p>
            <a:pPr>
              <a:spcAft>
                <a:spcPts val="400"/>
              </a:spcAft>
            </a:pPr>
            <a:r>
              <a:rPr sz="1300" b="0">
                <a:solidFill>
                  <a:srgbClr val="C8D4E0"/>
                </a:solidFill>
                <a:latin typeface="Calibri"/>
              </a:rPr>
              <a:t>Supervisor: Mr. Anuruddha Abeysinghe</a:t>
            </a:r>
          </a:p>
          <a:p>
            <a:pPr>
              <a:spcAft>
                <a:spcPts val="400"/>
              </a:spcAft>
            </a:pPr>
            <a:r>
              <a:rPr sz="1300" b="0">
                <a:solidFill>
                  <a:srgbClr val="C8D4E0"/>
                </a:solidFill>
                <a:latin typeface="Calibri"/>
              </a:rPr>
              <a:t>Module Lecturer: Dr. Gayana Fernando</a:t>
            </a:r>
          </a:p>
          <a:p>
            <a:pPr>
              <a:spcAft>
                <a:spcPts val="400"/>
              </a:spcAft>
            </a:pPr>
            <a:r>
              <a:rPr sz="1300" b="0">
                <a:solidFill>
                  <a:srgbClr val="0D9488"/>
                </a:solidFill>
                <a:latin typeface="Calibri"/>
              </a:rPr>
              <a:t>BSc (Hons) Computer Science, University of Bedfordshire</a:t>
            </a:r>
          </a:p>
          <a:p>
            <a:pPr>
              <a:spcAft>
                <a:spcPts val="400"/>
              </a:spcAft>
            </a:pPr>
            <a:r>
              <a:rPr sz="1200" b="0">
                <a:solidFill>
                  <a:srgbClr val="64748B"/>
                </a:solidFill>
                <a:latin typeface="Calibri"/>
              </a:rPr>
              <a:t>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194560" cy="2194560"/>
          </a:xfrm>
          <a:prstGeom prst="ellipse">
            <a:avLst/>
          </a:prstGeom>
          <a:solidFill>
            <a:srgbClr val="E2E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0" y="5303520"/>
            <a:ext cx="1645920" cy="1645920"/>
          </a:xfrm>
          <a:prstGeom prst="ellipse">
            <a:avLst/>
          </a:prstGeom>
          <a:solidFill>
            <a:srgbClr val="E8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0" y="182880"/>
            <a:ext cx="1463040" cy="640080"/>
          </a:xfrm>
          <a:prstGeom prst="rect">
            <a:avLst/>
          </a:prstGeom>
          <a:noFill/>
        </p:spPr>
        <p:txBody>
          <a:bodyPr wrap="none">
            <a:spAutoFit/>
          </a:bodyPr>
          <a:lstStyle/>
          <a:p>
            <a:pPr algn="r"/>
            <a:r>
              <a:rPr sz="3600" b="1">
                <a:solidFill>
                  <a:srgbClr val="D0D8E0"/>
                </a:solidFill>
                <a:latin typeface="Georgia"/>
              </a:rPr>
              <a:t>02</a:t>
            </a:r>
          </a:p>
        </p:txBody>
      </p:sp>
      <p:sp>
        <p:nvSpPr>
          <p:cNvPr id="8" name="TextBox 7"/>
          <p:cNvSpPr txBox="1"/>
          <p:nvPr/>
        </p:nvSpPr>
        <p:spPr>
          <a:xfrm>
            <a:off x="502920" y="256032"/>
            <a:ext cx="9601200" cy="502920"/>
          </a:xfrm>
          <a:prstGeom prst="rect">
            <a:avLst/>
          </a:prstGeom>
          <a:noFill/>
        </p:spPr>
        <p:txBody>
          <a:bodyPr wrap="none">
            <a:spAutoFit/>
          </a:bodyPr>
          <a:lstStyle/>
          <a:p>
            <a:r>
              <a:rPr sz="3000" b="1">
                <a:solidFill>
                  <a:srgbClr val="1E3A5F"/>
                </a:solidFill>
                <a:latin typeface="Georgia"/>
              </a:rPr>
              <a:t>Introduction &amp; Motivation</a:t>
            </a:r>
          </a:p>
        </p:txBody>
      </p:sp>
      <p:sp>
        <p:nvSpPr>
          <p:cNvPr id="9" name="TextBox 8"/>
          <p:cNvSpPr txBox="1"/>
          <p:nvPr/>
        </p:nvSpPr>
        <p:spPr>
          <a:xfrm>
            <a:off x="502920" y="749808"/>
            <a:ext cx="9601200" cy="320040"/>
          </a:xfrm>
          <a:prstGeom prst="rect">
            <a:avLst/>
          </a:prstGeom>
          <a:noFill/>
        </p:spPr>
        <p:txBody>
          <a:bodyPr wrap="none">
            <a:spAutoFit/>
          </a:bodyPr>
          <a:lstStyle/>
          <a:p>
            <a:r>
              <a:rPr sz="1300" b="0">
                <a:solidFill>
                  <a:srgbClr val="0D9488"/>
                </a:solidFill>
                <a:latin typeface="Calibri"/>
              </a:rPr>
              <a:t>Why school staff need a safer shortcut</a:t>
            </a:r>
          </a:p>
        </p:txBody>
      </p:sp>
      <p:sp>
        <p:nvSpPr>
          <p:cNvPr id="10" name="Oval 9"/>
          <p:cNvSpPr/>
          <p:nvPr/>
        </p:nvSpPr>
        <p:spPr>
          <a:xfrm>
            <a:off x="502920" y="6510528"/>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19088"/>
            <a:ext cx="3657600" cy="274320"/>
          </a:xfrm>
          <a:prstGeom prst="rect">
            <a:avLst/>
          </a:prstGeom>
          <a:noFill/>
        </p:spPr>
        <p:txBody>
          <a:bodyPr wrap="none">
            <a:spAutoFit/>
          </a:bodyPr>
          <a:lstStyle/>
          <a:p>
            <a:r>
              <a:rPr sz="1100" b="0">
                <a:solidFill>
                  <a:srgbClr val="64748B"/>
                </a:solidFill>
                <a:latin typeface="Calibri"/>
              </a:rPr>
              <a:t>EasyCircular  ·  2/8</a:t>
            </a:r>
          </a:p>
        </p:txBody>
      </p:sp>
      <p:sp>
        <p:nvSpPr>
          <p:cNvPr id="12" name="Rounded Rectangle 11"/>
          <p:cNvSpPr/>
          <p:nvPr/>
        </p:nvSpPr>
        <p:spPr>
          <a:xfrm>
            <a:off x="457200" y="1234440"/>
            <a:ext cx="6400800" cy="4160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234440"/>
            <a:ext cx="6400800" cy="7315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463040"/>
            <a:ext cx="5943600" cy="3657600"/>
          </a:xfrm>
          <a:prstGeom prst="rect">
            <a:avLst/>
          </a:prstGeom>
          <a:noFill/>
        </p:spPr>
        <p:txBody>
          <a:bodyPr wrap="square">
            <a:spAutoFit/>
          </a:bodyPr>
          <a:lstStyle/>
          <a:p>
            <a:pPr>
              <a:spcAft>
                <a:spcPts val="800"/>
              </a:spcAft>
            </a:pPr>
            <a:r>
              <a:rPr sz="1500" b="0">
                <a:solidFill>
                  <a:srgbClr val="1F2937"/>
                </a:solidFill>
                <a:latin typeface="Calibri"/>
              </a:rPr>
              <a:t>•  MOE circulars are long PDFs (often 5–20 pages) for principals, teachers, and officers</a:t>
            </a:r>
          </a:p>
          <a:p>
            <a:pPr>
              <a:spcAft>
                <a:spcPts val="800"/>
              </a:spcAft>
            </a:pPr>
            <a:r>
              <a:rPr sz="1500" b="0">
                <a:solidFill>
                  <a:srgbClr val="1F2937"/>
                </a:solidFill>
                <a:latin typeface="Calibri"/>
              </a:rPr>
              <a:t>•  Deadlines, legal references, and actions sit buried in administrative language</a:t>
            </a:r>
          </a:p>
          <a:p>
            <a:pPr>
              <a:spcAft>
                <a:spcPts val="800"/>
              </a:spcAft>
            </a:pPr>
            <a:r>
              <a:rPr sz="1500" b="0">
                <a:solidFill>
                  <a:srgbClr val="1F2937"/>
                </a:solidFill>
                <a:latin typeface="Calibri"/>
              </a:rPr>
              <a:t>•  Misreads, including informal WhatsApp sharing, risk compliance failures</a:t>
            </a:r>
          </a:p>
          <a:p>
            <a:pPr>
              <a:spcAft>
                <a:spcPts val="800"/>
              </a:spcAft>
            </a:pPr>
            <a:r>
              <a:rPr sz="1500" b="0">
                <a:solidFill>
                  <a:srgbClr val="1F2937"/>
                </a:solidFill>
                <a:latin typeface="Calibri"/>
              </a:rPr>
              <a:t>•  EasyCircular is an assistive shortcut, not a replacement for the circular</a:t>
            </a:r>
          </a:p>
        </p:txBody>
      </p:sp>
      <p:sp>
        <p:nvSpPr>
          <p:cNvPr id="15" name="Rounded Rectangle 14"/>
          <p:cNvSpPr/>
          <p:nvPr/>
        </p:nvSpPr>
        <p:spPr>
          <a:xfrm>
            <a:off x="7132320" y="1234440"/>
            <a:ext cx="4480560" cy="1691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1234440"/>
            <a:ext cx="448056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554480"/>
            <a:ext cx="4114800" cy="640080"/>
          </a:xfrm>
          <a:prstGeom prst="rect">
            <a:avLst/>
          </a:prstGeom>
          <a:noFill/>
        </p:spPr>
        <p:txBody>
          <a:bodyPr wrap="none">
            <a:spAutoFit/>
          </a:bodyPr>
          <a:lstStyle/>
          <a:p>
            <a:pPr algn="ctr"/>
            <a:r>
              <a:rPr sz="3200" b="1">
                <a:solidFill>
                  <a:srgbClr val="1E3A5F"/>
                </a:solidFill>
                <a:latin typeface="Georgia"/>
              </a:rPr>
              <a:t>97.6%</a:t>
            </a:r>
          </a:p>
        </p:txBody>
      </p:sp>
      <p:sp>
        <p:nvSpPr>
          <p:cNvPr id="18" name="TextBox 17"/>
          <p:cNvSpPr txBox="1"/>
          <p:nvPr/>
        </p:nvSpPr>
        <p:spPr>
          <a:xfrm>
            <a:off x="7315200" y="2240280"/>
            <a:ext cx="4114800" cy="640080"/>
          </a:xfrm>
          <a:prstGeom prst="rect">
            <a:avLst/>
          </a:prstGeom>
          <a:noFill/>
        </p:spPr>
        <p:txBody>
          <a:bodyPr wrap="square">
            <a:spAutoFit/>
          </a:bodyPr>
          <a:lstStyle/>
          <a:p>
            <a:pPr algn="ctr"/>
            <a:r>
              <a:rPr sz="1300" b="0">
                <a:solidFill>
                  <a:srgbClr val="64748B"/>
                </a:solidFill>
                <a:latin typeface="Calibri"/>
              </a:rPr>
              <a:t>of survey respondents
want a summary feature  (n=41)</a:t>
            </a:r>
          </a:p>
        </p:txBody>
      </p:sp>
      <p:sp>
        <p:nvSpPr>
          <p:cNvPr id="19" name="Rounded Rectangle 18"/>
          <p:cNvSpPr/>
          <p:nvPr/>
        </p:nvSpPr>
        <p:spPr>
          <a:xfrm>
            <a:off x="7132320" y="3108960"/>
            <a:ext cx="4480560" cy="1691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0" y="3108960"/>
            <a:ext cx="448056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3429000"/>
            <a:ext cx="4114800" cy="640080"/>
          </a:xfrm>
          <a:prstGeom prst="rect">
            <a:avLst/>
          </a:prstGeom>
          <a:noFill/>
        </p:spPr>
        <p:txBody>
          <a:bodyPr wrap="none">
            <a:spAutoFit/>
          </a:bodyPr>
          <a:lstStyle/>
          <a:p>
            <a:pPr algn="ctr"/>
            <a:r>
              <a:rPr sz="3200" b="1">
                <a:solidFill>
                  <a:srgbClr val="1E3A5F"/>
                </a:solidFill>
                <a:latin typeface="Georgia"/>
              </a:rPr>
              <a:t>68.3%</a:t>
            </a:r>
          </a:p>
        </p:txBody>
      </p:sp>
      <p:sp>
        <p:nvSpPr>
          <p:cNvPr id="22" name="TextBox 21"/>
          <p:cNvSpPr txBox="1"/>
          <p:nvPr/>
        </p:nvSpPr>
        <p:spPr>
          <a:xfrm>
            <a:off x="7315200" y="4114800"/>
            <a:ext cx="4114800" cy="640080"/>
          </a:xfrm>
          <a:prstGeom prst="rect">
            <a:avLst/>
          </a:prstGeom>
          <a:noFill/>
        </p:spPr>
        <p:txBody>
          <a:bodyPr wrap="square">
            <a:spAutoFit/>
          </a:bodyPr>
          <a:lstStyle/>
          <a:p>
            <a:pPr algn="ctr"/>
            <a:r>
              <a:rPr sz="1300" b="0">
                <a:solidFill>
                  <a:srgbClr val="64748B"/>
                </a:solidFill>
                <a:latin typeface="Calibri"/>
              </a:rPr>
              <a:t>hesitant about AI without
privacy and human control</a:t>
            </a:r>
          </a:p>
        </p:txBody>
      </p:sp>
      <p:sp>
        <p:nvSpPr>
          <p:cNvPr id="23" name="Rounded Rectangle 22"/>
          <p:cNvSpPr/>
          <p:nvPr/>
        </p:nvSpPr>
        <p:spPr>
          <a:xfrm>
            <a:off x="457200" y="5577840"/>
            <a:ext cx="11155680" cy="640080"/>
          </a:xfrm>
          <a:prstGeom prst="roundRect">
            <a:avLst>
              <a:gd name="adj" fmla="val 8000"/>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5577840"/>
            <a:ext cx="109728" cy="6400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715000"/>
            <a:ext cx="10607040" cy="411480"/>
          </a:xfrm>
          <a:prstGeom prst="rect">
            <a:avLst/>
          </a:prstGeom>
          <a:noFill/>
        </p:spPr>
        <p:txBody>
          <a:bodyPr wrap="none">
            <a:spAutoFit/>
          </a:bodyPr>
          <a:lstStyle/>
          <a:p>
            <a:r>
              <a:rPr sz="1400" b="1">
                <a:solidFill>
                  <a:srgbClr val="1E3A5F"/>
                </a:solidFill>
                <a:latin typeface="Calibri"/>
              </a:rPr>
              <a:t>Original PDF remains the legal source of truth. EasyCircular is a navigation aid.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194560" cy="2194560"/>
          </a:xfrm>
          <a:prstGeom prst="ellipse">
            <a:avLst/>
          </a:prstGeom>
          <a:solidFill>
            <a:srgbClr val="E2E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0" y="5303520"/>
            <a:ext cx="1645920" cy="1645920"/>
          </a:xfrm>
          <a:prstGeom prst="ellipse">
            <a:avLst/>
          </a:prstGeom>
          <a:solidFill>
            <a:srgbClr val="E8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0" y="182880"/>
            <a:ext cx="1463040" cy="640080"/>
          </a:xfrm>
          <a:prstGeom prst="rect">
            <a:avLst/>
          </a:prstGeom>
          <a:noFill/>
        </p:spPr>
        <p:txBody>
          <a:bodyPr wrap="none">
            <a:spAutoFit/>
          </a:bodyPr>
          <a:lstStyle/>
          <a:p>
            <a:pPr algn="r"/>
            <a:r>
              <a:rPr sz="3600" b="1">
                <a:solidFill>
                  <a:srgbClr val="D0D8E0"/>
                </a:solidFill>
                <a:latin typeface="Georgia"/>
              </a:rPr>
              <a:t>03</a:t>
            </a:r>
          </a:p>
        </p:txBody>
      </p:sp>
      <p:sp>
        <p:nvSpPr>
          <p:cNvPr id="8" name="TextBox 7"/>
          <p:cNvSpPr txBox="1"/>
          <p:nvPr/>
        </p:nvSpPr>
        <p:spPr>
          <a:xfrm>
            <a:off x="502920" y="256032"/>
            <a:ext cx="9601200" cy="502920"/>
          </a:xfrm>
          <a:prstGeom prst="rect">
            <a:avLst/>
          </a:prstGeom>
          <a:noFill/>
        </p:spPr>
        <p:txBody>
          <a:bodyPr wrap="none">
            <a:spAutoFit/>
          </a:bodyPr>
          <a:lstStyle/>
          <a:p>
            <a:r>
              <a:rPr sz="3000" b="1">
                <a:solidFill>
                  <a:srgbClr val="1E3A5F"/>
                </a:solidFill>
                <a:latin typeface="Georgia"/>
              </a:rPr>
              <a:t>Aim &amp; Objectives</a:t>
            </a:r>
          </a:p>
        </p:txBody>
      </p:sp>
      <p:sp>
        <p:nvSpPr>
          <p:cNvPr id="9" name="TextBox 8"/>
          <p:cNvSpPr txBox="1"/>
          <p:nvPr/>
        </p:nvSpPr>
        <p:spPr>
          <a:xfrm>
            <a:off x="502920" y="749808"/>
            <a:ext cx="9601200" cy="320040"/>
          </a:xfrm>
          <a:prstGeom prst="rect">
            <a:avLst/>
          </a:prstGeom>
          <a:noFill/>
        </p:spPr>
        <p:txBody>
          <a:bodyPr wrap="none">
            <a:spAutoFit/>
          </a:bodyPr>
          <a:lstStyle/>
          <a:p>
            <a:r>
              <a:rPr sz="1300" b="0">
                <a:solidFill>
                  <a:srgbClr val="0D9488"/>
                </a:solidFill>
                <a:latin typeface="Calibri"/>
              </a:rPr>
              <a:t>What this project set out to deliver</a:t>
            </a:r>
          </a:p>
        </p:txBody>
      </p:sp>
      <p:sp>
        <p:nvSpPr>
          <p:cNvPr id="10" name="Oval 9"/>
          <p:cNvSpPr/>
          <p:nvPr/>
        </p:nvSpPr>
        <p:spPr>
          <a:xfrm>
            <a:off x="502920" y="6510528"/>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19088"/>
            <a:ext cx="3657600" cy="274320"/>
          </a:xfrm>
          <a:prstGeom prst="rect">
            <a:avLst/>
          </a:prstGeom>
          <a:noFill/>
        </p:spPr>
        <p:txBody>
          <a:bodyPr wrap="none">
            <a:spAutoFit/>
          </a:bodyPr>
          <a:lstStyle/>
          <a:p>
            <a:r>
              <a:rPr sz="1100" b="0">
                <a:solidFill>
                  <a:srgbClr val="64748B"/>
                </a:solidFill>
                <a:latin typeface="Calibri"/>
              </a:rPr>
              <a:t>EasyCircular  ·  3/8</a:t>
            </a:r>
          </a:p>
        </p:txBody>
      </p:sp>
      <p:sp>
        <p:nvSpPr>
          <p:cNvPr id="12" name="Rounded Rectangle 11"/>
          <p:cNvSpPr/>
          <p:nvPr/>
        </p:nvSpPr>
        <p:spPr>
          <a:xfrm>
            <a:off x="457200" y="1188720"/>
            <a:ext cx="11155680" cy="1051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188720"/>
            <a:ext cx="128016" cy="1051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325880"/>
            <a:ext cx="10607040" cy="822960"/>
          </a:xfrm>
          <a:prstGeom prst="rect">
            <a:avLst/>
          </a:prstGeom>
          <a:noFill/>
        </p:spPr>
        <p:txBody>
          <a:bodyPr wrap="square">
            <a:spAutoFit/>
          </a:bodyPr>
          <a:lstStyle/>
          <a:p>
            <a:r>
              <a:rPr sz="1100" b="1">
                <a:solidFill>
                  <a:srgbClr val="0D9488"/>
                </a:solidFill>
                <a:latin typeface="Calibri"/>
              </a:rPr>
              <a:t>AIM</a:t>
            </a:r>
          </a:p>
          <a:p>
            <a:r>
              <a:rPr sz="1400" b="0">
                <a:solidFill>
                  <a:srgbClr val="1F2937"/>
                </a:solidFill>
                <a:latin typeface="Calibri"/>
              </a:rPr>
              <a:t>Develop an AI-powered web application using NLP to extract and summarise complex MOE circulars, improving administrative efficiency in Sri Lankan schools.</a:t>
            </a:r>
          </a:p>
        </p:txBody>
      </p:sp>
      <p:sp>
        <p:nvSpPr>
          <p:cNvPr id="15" name="Rounded Rectangle 14"/>
          <p:cNvSpPr/>
          <p:nvPr/>
        </p:nvSpPr>
        <p:spPr>
          <a:xfrm>
            <a:off x="457200" y="2514600"/>
            <a:ext cx="2103120" cy="3291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514600"/>
            <a:ext cx="210312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743200"/>
            <a:ext cx="1828800" cy="457200"/>
          </a:xfrm>
          <a:prstGeom prst="rect">
            <a:avLst/>
          </a:prstGeom>
          <a:noFill/>
        </p:spPr>
        <p:txBody>
          <a:bodyPr wrap="none">
            <a:spAutoFit/>
          </a:bodyPr>
          <a:lstStyle/>
          <a:p>
            <a:r>
              <a:rPr sz="2600" b="1">
                <a:solidFill>
                  <a:srgbClr val="0D9488"/>
                </a:solidFill>
                <a:latin typeface="Georgia"/>
              </a:rPr>
              <a:t>01</a:t>
            </a:r>
          </a:p>
        </p:txBody>
      </p:sp>
      <p:sp>
        <p:nvSpPr>
          <p:cNvPr id="18" name="TextBox 17"/>
          <p:cNvSpPr txBox="1"/>
          <p:nvPr/>
        </p:nvSpPr>
        <p:spPr>
          <a:xfrm>
            <a:off x="594360" y="3337560"/>
            <a:ext cx="1828800" cy="2194560"/>
          </a:xfrm>
          <a:prstGeom prst="rect">
            <a:avLst/>
          </a:prstGeom>
          <a:noFill/>
        </p:spPr>
        <p:txBody>
          <a:bodyPr wrap="square">
            <a:spAutoFit/>
          </a:bodyPr>
          <a:lstStyle/>
          <a:p>
            <a:r>
              <a:rPr sz="1300" b="0">
                <a:solidFill>
                  <a:srgbClr val="1F2937"/>
                </a:solidFill>
                <a:latin typeface="Calibri"/>
              </a:rPr>
              <a:t>Evaluate NLP and summarisation techniques for administrative documents</a:t>
            </a:r>
          </a:p>
        </p:txBody>
      </p:sp>
      <p:sp>
        <p:nvSpPr>
          <p:cNvPr id="19" name="Rounded Rectangle 18"/>
          <p:cNvSpPr/>
          <p:nvPr/>
        </p:nvSpPr>
        <p:spPr>
          <a:xfrm>
            <a:off x="2697480" y="2514600"/>
            <a:ext cx="2103120" cy="3291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97480" y="2514600"/>
            <a:ext cx="210312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34640" y="2743200"/>
            <a:ext cx="1828800" cy="457200"/>
          </a:xfrm>
          <a:prstGeom prst="rect">
            <a:avLst/>
          </a:prstGeom>
          <a:noFill/>
        </p:spPr>
        <p:txBody>
          <a:bodyPr wrap="none">
            <a:spAutoFit/>
          </a:bodyPr>
          <a:lstStyle/>
          <a:p>
            <a:r>
              <a:rPr sz="2600" b="1">
                <a:solidFill>
                  <a:srgbClr val="D97706"/>
                </a:solidFill>
                <a:latin typeface="Georgia"/>
              </a:rPr>
              <a:t>02</a:t>
            </a:r>
          </a:p>
        </p:txBody>
      </p:sp>
      <p:sp>
        <p:nvSpPr>
          <p:cNvPr id="22" name="TextBox 21"/>
          <p:cNvSpPr txBox="1"/>
          <p:nvPr/>
        </p:nvSpPr>
        <p:spPr>
          <a:xfrm>
            <a:off x="2834640" y="3337560"/>
            <a:ext cx="1828800" cy="2194560"/>
          </a:xfrm>
          <a:prstGeom prst="rect">
            <a:avLst/>
          </a:prstGeom>
          <a:noFill/>
        </p:spPr>
        <p:txBody>
          <a:bodyPr wrap="square">
            <a:spAutoFit/>
          </a:bodyPr>
          <a:lstStyle/>
          <a:p>
            <a:r>
              <a:rPr sz="1300" b="0">
                <a:solidFill>
                  <a:srgbClr val="1F2937"/>
                </a:solidFill>
                <a:latin typeface="Calibri"/>
              </a:rPr>
              <a:t>Secure PDF ingestion with OCR fallback and mandatory human text review</a:t>
            </a:r>
          </a:p>
        </p:txBody>
      </p:sp>
      <p:sp>
        <p:nvSpPr>
          <p:cNvPr id="23" name="Rounded Rectangle 22"/>
          <p:cNvSpPr/>
          <p:nvPr/>
        </p:nvSpPr>
        <p:spPr>
          <a:xfrm>
            <a:off x="4937760" y="2514600"/>
            <a:ext cx="2103120" cy="3291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937760" y="2514600"/>
            <a:ext cx="210312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74920" y="2743200"/>
            <a:ext cx="1828800" cy="457200"/>
          </a:xfrm>
          <a:prstGeom prst="rect">
            <a:avLst/>
          </a:prstGeom>
          <a:noFill/>
        </p:spPr>
        <p:txBody>
          <a:bodyPr wrap="none">
            <a:spAutoFit/>
          </a:bodyPr>
          <a:lstStyle/>
          <a:p>
            <a:r>
              <a:rPr sz="2600" b="1">
                <a:solidFill>
                  <a:srgbClr val="0D9488"/>
                </a:solidFill>
                <a:latin typeface="Georgia"/>
              </a:rPr>
              <a:t>03</a:t>
            </a:r>
          </a:p>
        </p:txBody>
      </p:sp>
      <p:sp>
        <p:nvSpPr>
          <p:cNvPr id="26" name="TextBox 25"/>
          <p:cNvSpPr txBox="1"/>
          <p:nvPr/>
        </p:nvSpPr>
        <p:spPr>
          <a:xfrm>
            <a:off x="5074920" y="3337560"/>
            <a:ext cx="1828800" cy="2194560"/>
          </a:xfrm>
          <a:prstGeom prst="rect">
            <a:avLst/>
          </a:prstGeom>
          <a:noFill/>
        </p:spPr>
        <p:txBody>
          <a:bodyPr wrap="square">
            <a:spAutoFit/>
          </a:bodyPr>
          <a:lstStyle/>
          <a:p>
            <a:r>
              <a:rPr sz="1300" b="0">
                <a:solidFill>
                  <a:srgbClr val="1F2937"/>
                </a:solidFill>
                <a:latin typeface="Calibri"/>
              </a:rPr>
              <a:t>NER for dates, organisations, and legal references</a:t>
            </a:r>
          </a:p>
        </p:txBody>
      </p:sp>
      <p:sp>
        <p:nvSpPr>
          <p:cNvPr id="27" name="Rounded Rectangle 26"/>
          <p:cNvSpPr/>
          <p:nvPr/>
        </p:nvSpPr>
        <p:spPr>
          <a:xfrm>
            <a:off x="7178040" y="2514600"/>
            <a:ext cx="2103120" cy="3291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78040" y="2514600"/>
            <a:ext cx="210312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0" y="2743200"/>
            <a:ext cx="1828800" cy="457200"/>
          </a:xfrm>
          <a:prstGeom prst="rect">
            <a:avLst/>
          </a:prstGeom>
          <a:noFill/>
        </p:spPr>
        <p:txBody>
          <a:bodyPr wrap="none">
            <a:spAutoFit/>
          </a:bodyPr>
          <a:lstStyle/>
          <a:p>
            <a:r>
              <a:rPr sz="2600" b="1">
                <a:solidFill>
                  <a:srgbClr val="D97706"/>
                </a:solidFill>
                <a:latin typeface="Georgia"/>
              </a:rPr>
              <a:t>04</a:t>
            </a:r>
          </a:p>
        </p:txBody>
      </p:sp>
      <p:sp>
        <p:nvSpPr>
          <p:cNvPr id="30" name="TextBox 29"/>
          <p:cNvSpPr txBox="1"/>
          <p:nvPr/>
        </p:nvSpPr>
        <p:spPr>
          <a:xfrm>
            <a:off x="7315200" y="3337560"/>
            <a:ext cx="1828800" cy="2194560"/>
          </a:xfrm>
          <a:prstGeom prst="rect">
            <a:avLst/>
          </a:prstGeom>
          <a:noFill/>
        </p:spPr>
        <p:txBody>
          <a:bodyPr wrap="square">
            <a:spAutoFit/>
          </a:bodyPr>
          <a:lstStyle/>
          <a:p>
            <a:r>
              <a:rPr sz="1300" b="0">
                <a:solidFill>
                  <a:srgbClr val="1F2937"/>
                </a:solidFill>
                <a:latin typeface="Calibri"/>
              </a:rPr>
              <a:t>Dynamic summarisation engine with hallucination guardrails</a:t>
            </a:r>
          </a:p>
        </p:txBody>
      </p:sp>
      <p:sp>
        <p:nvSpPr>
          <p:cNvPr id="31" name="Rounded Rectangle 30"/>
          <p:cNvSpPr/>
          <p:nvPr/>
        </p:nvSpPr>
        <p:spPr>
          <a:xfrm>
            <a:off x="9418320" y="2514600"/>
            <a:ext cx="2103120" cy="3291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18320" y="2514600"/>
            <a:ext cx="210312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55480" y="2743200"/>
            <a:ext cx="1828800" cy="457200"/>
          </a:xfrm>
          <a:prstGeom prst="rect">
            <a:avLst/>
          </a:prstGeom>
          <a:noFill/>
        </p:spPr>
        <p:txBody>
          <a:bodyPr wrap="none">
            <a:spAutoFit/>
          </a:bodyPr>
          <a:lstStyle/>
          <a:p>
            <a:r>
              <a:rPr sz="2600" b="1">
                <a:solidFill>
                  <a:srgbClr val="0D9488"/>
                </a:solidFill>
                <a:latin typeface="Georgia"/>
              </a:rPr>
              <a:t>05</a:t>
            </a:r>
          </a:p>
        </p:txBody>
      </p:sp>
      <p:sp>
        <p:nvSpPr>
          <p:cNvPr id="34" name="TextBox 33"/>
          <p:cNvSpPr txBox="1"/>
          <p:nvPr/>
        </p:nvSpPr>
        <p:spPr>
          <a:xfrm>
            <a:off x="9555480" y="3337560"/>
            <a:ext cx="1828800" cy="2194560"/>
          </a:xfrm>
          <a:prstGeom prst="rect">
            <a:avLst/>
          </a:prstGeom>
          <a:noFill/>
        </p:spPr>
        <p:txBody>
          <a:bodyPr wrap="square">
            <a:spAutoFit/>
          </a:bodyPr>
          <a:lstStyle/>
          <a:p>
            <a:r>
              <a:rPr sz="1300" b="0">
                <a:solidFill>
                  <a:srgbClr val="1F2937"/>
                </a:solidFill>
                <a:latin typeface="Calibri"/>
              </a:rPr>
              <a:t>Evaluate via ROUGE, automated tests, and stakeholder survey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194560" cy="2194560"/>
          </a:xfrm>
          <a:prstGeom prst="ellipse">
            <a:avLst/>
          </a:prstGeom>
          <a:solidFill>
            <a:srgbClr val="E2E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0" y="5303520"/>
            <a:ext cx="1645920" cy="1645920"/>
          </a:xfrm>
          <a:prstGeom prst="ellipse">
            <a:avLst/>
          </a:prstGeom>
          <a:solidFill>
            <a:srgbClr val="E8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0" y="182880"/>
            <a:ext cx="1463040" cy="640080"/>
          </a:xfrm>
          <a:prstGeom prst="rect">
            <a:avLst/>
          </a:prstGeom>
          <a:noFill/>
        </p:spPr>
        <p:txBody>
          <a:bodyPr wrap="none">
            <a:spAutoFit/>
          </a:bodyPr>
          <a:lstStyle/>
          <a:p>
            <a:pPr algn="r"/>
            <a:r>
              <a:rPr sz="3600" b="1">
                <a:solidFill>
                  <a:srgbClr val="D0D8E0"/>
                </a:solidFill>
                <a:latin typeface="Georgia"/>
              </a:rPr>
              <a:t>04</a:t>
            </a:r>
          </a:p>
        </p:txBody>
      </p:sp>
      <p:sp>
        <p:nvSpPr>
          <p:cNvPr id="8" name="TextBox 7"/>
          <p:cNvSpPr txBox="1"/>
          <p:nvPr/>
        </p:nvSpPr>
        <p:spPr>
          <a:xfrm>
            <a:off x="502920" y="256032"/>
            <a:ext cx="9601200" cy="502920"/>
          </a:xfrm>
          <a:prstGeom prst="rect">
            <a:avLst/>
          </a:prstGeom>
          <a:noFill/>
        </p:spPr>
        <p:txBody>
          <a:bodyPr wrap="none">
            <a:spAutoFit/>
          </a:bodyPr>
          <a:lstStyle/>
          <a:p>
            <a:r>
              <a:rPr sz="3000" b="1">
                <a:solidFill>
                  <a:srgbClr val="1E3A5F"/>
                </a:solidFill>
                <a:latin typeface="Georgia"/>
              </a:rPr>
              <a:t>Key Facts from Literature</a:t>
            </a:r>
          </a:p>
        </p:txBody>
      </p:sp>
      <p:sp>
        <p:nvSpPr>
          <p:cNvPr id="9" name="TextBox 8"/>
          <p:cNvSpPr txBox="1"/>
          <p:nvPr/>
        </p:nvSpPr>
        <p:spPr>
          <a:xfrm>
            <a:off x="502920" y="749808"/>
            <a:ext cx="9601200" cy="320040"/>
          </a:xfrm>
          <a:prstGeom prst="rect">
            <a:avLst/>
          </a:prstGeom>
          <a:noFill/>
        </p:spPr>
        <p:txBody>
          <a:bodyPr wrap="none">
            <a:spAutoFit/>
          </a:bodyPr>
          <a:lstStyle/>
          <a:p>
            <a:r>
              <a:rPr sz="1300" b="0">
                <a:solidFill>
                  <a:srgbClr val="0D9488"/>
                </a:solidFill>
                <a:latin typeface="Calibri"/>
              </a:rPr>
              <a:t>Foundations that shaped the design</a:t>
            </a:r>
          </a:p>
        </p:txBody>
      </p:sp>
      <p:sp>
        <p:nvSpPr>
          <p:cNvPr id="10" name="Oval 9"/>
          <p:cNvSpPr/>
          <p:nvPr/>
        </p:nvSpPr>
        <p:spPr>
          <a:xfrm>
            <a:off x="502920" y="6510528"/>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19088"/>
            <a:ext cx="3657600" cy="274320"/>
          </a:xfrm>
          <a:prstGeom prst="rect">
            <a:avLst/>
          </a:prstGeom>
          <a:noFill/>
        </p:spPr>
        <p:txBody>
          <a:bodyPr wrap="none">
            <a:spAutoFit/>
          </a:bodyPr>
          <a:lstStyle/>
          <a:p>
            <a:r>
              <a:rPr sz="1100" b="0">
                <a:solidFill>
                  <a:srgbClr val="64748B"/>
                </a:solidFill>
                <a:latin typeface="Calibri"/>
              </a:rPr>
              <a:t>EasyCircular  ·  4/8</a:t>
            </a:r>
          </a:p>
        </p:txBody>
      </p:sp>
      <p:sp>
        <p:nvSpPr>
          <p:cNvPr id="12" name="Rounded Rectangle 11"/>
          <p:cNvSpPr/>
          <p:nvPr/>
        </p:nvSpPr>
        <p:spPr>
          <a:xfrm>
            <a:off x="457200" y="1234440"/>
            <a:ext cx="361188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234440"/>
            <a:ext cx="361188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554480"/>
            <a:ext cx="3154680" cy="411480"/>
          </a:xfrm>
          <a:prstGeom prst="rect">
            <a:avLst/>
          </a:prstGeom>
          <a:noFill/>
        </p:spPr>
        <p:txBody>
          <a:bodyPr wrap="none">
            <a:spAutoFit/>
          </a:bodyPr>
          <a:lstStyle/>
          <a:p>
            <a:r>
              <a:rPr sz="1500" b="1">
                <a:solidFill>
                  <a:srgbClr val="1E3A5F"/>
                </a:solidFill>
                <a:latin typeface="Georgia"/>
              </a:rPr>
              <a:t>LLMs &amp; map-reduce</a:t>
            </a:r>
          </a:p>
        </p:txBody>
      </p:sp>
      <p:sp>
        <p:nvSpPr>
          <p:cNvPr id="15" name="TextBox 14"/>
          <p:cNvSpPr txBox="1"/>
          <p:nvPr/>
        </p:nvSpPr>
        <p:spPr>
          <a:xfrm>
            <a:off x="685800" y="2103120"/>
            <a:ext cx="3154680" cy="1005840"/>
          </a:xfrm>
          <a:prstGeom prst="rect">
            <a:avLst/>
          </a:prstGeom>
          <a:noFill/>
        </p:spPr>
        <p:txBody>
          <a:bodyPr wrap="square">
            <a:spAutoFit/>
          </a:bodyPr>
          <a:lstStyle/>
          <a:p>
            <a:r>
              <a:rPr sz="1300" b="0">
                <a:solidFill>
                  <a:srgbClr val="64748B"/>
                </a:solidFill>
                <a:latin typeface="Calibri"/>
              </a:rPr>
              <a:t>Transformer models enable abstractive summarisation of long documents.</a:t>
            </a:r>
          </a:p>
        </p:txBody>
      </p:sp>
      <p:sp>
        <p:nvSpPr>
          <p:cNvPr id="16" name="Rounded Rectangle 15"/>
          <p:cNvSpPr/>
          <p:nvPr/>
        </p:nvSpPr>
        <p:spPr>
          <a:xfrm>
            <a:off x="4251960" y="1234440"/>
            <a:ext cx="361188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51960" y="1234440"/>
            <a:ext cx="3611880" cy="7315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1554480"/>
            <a:ext cx="3154680" cy="411480"/>
          </a:xfrm>
          <a:prstGeom prst="rect">
            <a:avLst/>
          </a:prstGeom>
          <a:noFill/>
        </p:spPr>
        <p:txBody>
          <a:bodyPr wrap="none">
            <a:spAutoFit/>
          </a:bodyPr>
          <a:lstStyle/>
          <a:p>
            <a:r>
              <a:rPr sz="1500" b="1">
                <a:solidFill>
                  <a:srgbClr val="1E3A5F"/>
                </a:solidFill>
                <a:latin typeface="Georgia"/>
              </a:rPr>
              <a:t>Extractive vs abstractive</a:t>
            </a:r>
          </a:p>
        </p:txBody>
      </p:sp>
      <p:sp>
        <p:nvSpPr>
          <p:cNvPr id="19" name="TextBox 18"/>
          <p:cNvSpPr txBox="1"/>
          <p:nvPr/>
        </p:nvSpPr>
        <p:spPr>
          <a:xfrm>
            <a:off x="4480560" y="2103120"/>
            <a:ext cx="3154680" cy="1005840"/>
          </a:xfrm>
          <a:prstGeom prst="rect">
            <a:avLst/>
          </a:prstGeom>
          <a:noFill/>
        </p:spPr>
        <p:txBody>
          <a:bodyPr wrap="square">
            <a:spAutoFit/>
          </a:bodyPr>
          <a:lstStyle/>
          <a:p>
            <a:r>
              <a:rPr sz="1300" b="0">
                <a:solidFill>
                  <a:srgbClr val="64748B"/>
                </a:solidFill>
                <a:latin typeface="Calibri"/>
              </a:rPr>
              <a:t>Fluency versus faithfulness: a core trade-off for policy text.</a:t>
            </a:r>
          </a:p>
        </p:txBody>
      </p:sp>
      <p:sp>
        <p:nvSpPr>
          <p:cNvPr id="20" name="Rounded Rectangle 19"/>
          <p:cNvSpPr/>
          <p:nvPr/>
        </p:nvSpPr>
        <p:spPr>
          <a:xfrm>
            <a:off x="8046720" y="1234440"/>
            <a:ext cx="361188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1234440"/>
            <a:ext cx="3611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1554480"/>
            <a:ext cx="3154680" cy="411480"/>
          </a:xfrm>
          <a:prstGeom prst="rect">
            <a:avLst/>
          </a:prstGeom>
          <a:noFill/>
        </p:spPr>
        <p:txBody>
          <a:bodyPr wrap="none">
            <a:spAutoFit/>
          </a:bodyPr>
          <a:lstStyle/>
          <a:p>
            <a:r>
              <a:rPr sz="1500" b="1">
                <a:solidFill>
                  <a:srgbClr val="1E3A5F"/>
                </a:solidFill>
                <a:latin typeface="Georgia"/>
              </a:rPr>
              <a:t>Hallucination risk</a:t>
            </a:r>
          </a:p>
        </p:txBody>
      </p:sp>
      <p:sp>
        <p:nvSpPr>
          <p:cNvPr id="23" name="TextBox 22"/>
          <p:cNvSpPr txBox="1"/>
          <p:nvPr/>
        </p:nvSpPr>
        <p:spPr>
          <a:xfrm>
            <a:off x="8275320" y="2103120"/>
            <a:ext cx="3154680" cy="1005840"/>
          </a:xfrm>
          <a:prstGeom prst="rect">
            <a:avLst/>
          </a:prstGeom>
          <a:noFill/>
        </p:spPr>
        <p:txBody>
          <a:bodyPr wrap="square">
            <a:spAutoFit/>
          </a:bodyPr>
          <a:lstStyle/>
          <a:p>
            <a:r>
              <a:rPr sz="1300" b="0">
                <a:solidFill>
                  <a:srgbClr val="64748B"/>
                </a:solidFill>
                <a:latin typeface="Calibri"/>
              </a:rPr>
              <a:t>Invented dates and deadlines are unacceptable in circulars.</a:t>
            </a:r>
          </a:p>
        </p:txBody>
      </p:sp>
      <p:sp>
        <p:nvSpPr>
          <p:cNvPr id="24" name="Rounded Rectangle 23"/>
          <p:cNvSpPr/>
          <p:nvPr/>
        </p:nvSpPr>
        <p:spPr>
          <a:xfrm>
            <a:off x="457200" y="3566160"/>
            <a:ext cx="361188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566160"/>
            <a:ext cx="361188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86200"/>
            <a:ext cx="3154680" cy="411480"/>
          </a:xfrm>
          <a:prstGeom prst="rect">
            <a:avLst/>
          </a:prstGeom>
          <a:noFill/>
        </p:spPr>
        <p:txBody>
          <a:bodyPr wrap="none">
            <a:spAutoFit/>
          </a:bodyPr>
          <a:lstStyle/>
          <a:p>
            <a:r>
              <a:rPr sz="1500" b="1">
                <a:solidFill>
                  <a:srgbClr val="1E3A5F"/>
                </a:solidFill>
                <a:latin typeface="Georgia"/>
              </a:rPr>
              <a:t>Named entity recognition</a:t>
            </a:r>
          </a:p>
        </p:txBody>
      </p:sp>
      <p:sp>
        <p:nvSpPr>
          <p:cNvPr id="27" name="TextBox 26"/>
          <p:cNvSpPr txBox="1"/>
          <p:nvPr/>
        </p:nvSpPr>
        <p:spPr>
          <a:xfrm>
            <a:off x="685800" y="4434840"/>
            <a:ext cx="3154680" cy="1005840"/>
          </a:xfrm>
          <a:prstGeom prst="rect">
            <a:avLst/>
          </a:prstGeom>
          <a:noFill/>
        </p:spPr>
        <p:txBody>
          <a:bodyPr wrap="square">
            <a:spAutoFit/>
          </a:bodyPr>
          <a:lstStyle/>
          <a:p>
            <a:r>
              <a:rPr sz="1300" b="0">
                <a:solidFill>
                  <a:srgbClr val="64748B"/>
                </a:solidFill>
                <a:latin typeface="Calibri"/>
              </a:rPr>
              <a:t>DATE, ORG, and LAW-style spans surface actionable detail.</a:t>
            </a:r>
          </a:p>
        </p:txBody>
      </p:sp>
      <p:sp>
        <p:nvSpPr>
          <p:cNvPr id="28" name="Rounded Rectangle 27"/>
          <p:cNvSpPr/>
          <p:nvPr/>
        </p:nvSpPr>
        <p:spPr>
          <a:xfrm>
            <a:off x="4251960" y="3566160"/>
            <a:ext cx="361188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51960" y="3566160"/>
            <a:ext cx="3611880" cy="7315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3886200"/>
            <a:ext cx="3154680" cy="411480"/>
          </a:xfrm>
          <a:prstGeom prst="rect">
            <a:avLst/>
          </a:prstGeom>
          <a:noFill/>
        </p:spPr>
        <p:txBody>
          <a:bodyPr wrap="none">
            <a:spAutoFit/>
          </a:bodyPr>
          <a:lstStyle/>
          <a:p>
            <a:r>
              <a:rPr sz="1500" b="1">
                <a:solidFill>
                  <a:srgbClr val="1E3A5F"/>
                </a:solidFill>
                <a:latin typeface="Georgia"/>
              </a:rPr>
              <a:t>OCR &amp; low-resource NLP</a:t>
            </a:r>
          </a:p>
        </p:txBody>
      </p:sp>
      <p:sp>
        <p:nvSpPr>
          <p:cNvPr id="31" name="TextBox 30"/>
          <p:cNvSpPr txBox="1"/>
          <p:nvPr/>
        </p:nvSpPr>
        <p:spPr>
          <a:xfrm>
            <a:off x="4480560" y="4434840"/>
            <a:ext cx="3154680" cy="1005840"/>
          </a:xfrm>
          <a:prstGeom prst="rect">
            <a:avLst/>
          </a:prstGeom>
          <a:noFill/>
        </p:spPr>
        <p:txBody>
          <a:bodyPr wrap="square">
            <a:spAutoFit/>
          </a:bodyPr>
          <a:lstStyle/>
          <a:p>
            <a:r>
              <a:rPr sz="1300" b="0">
                <a:solidFill>
                  <a:srgbClr val="64748B"/>
                </a:solidFill>
                <a:latin typeface="Calibri"/>
              </a:rPr>
              <a:t>Sinhala/Tamil gaps make human-in-the-loop review essential.</a:t>
            </a:r>
          </a:p>
        </p:txBody>
      </p:sp>
      <p:sp>
        <p:nvSpPr>
          <p:cNvPr id="32" name="Rounded Rectangle 31"/>
          <p:cNvSpPr/>
          <p:nvPr/>
        </p:nvSpPr>
        <p:spPr>
          <a:xfrm>
            <a:off x="8046720" y="3566160"/>
            <a:ext cx="361188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6720" y="3566160"/>
            <a:ext cx="3611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320" y="3886200"/>
            <a:ext cx="3154680" cy="411480"/>
          </a:xfrm>
          <a:prstGeom prst="rect">
            <a:avLst/>
          </a:prstGeom>
          <a:noFill/>
        </p:spPr>
        <p:txBody>
          <a:bodyPr wrap="none">
            <a:spAutoFit/>
          </a:bodyPr>
          <a:lstStyle/>
          <a:p>
            <a:r>
              <a:rPr sz="1500" b="1">
                <a:solidFill>
                  <a:srgbClr val="1E3A5F"/>
                </a:solidFill>
                <a:latin typeface="Georgia"/>
              </a:rPr>
              <a:t>ROUGE caveat</a:t>
            </a:r>
          </a:p>
        </p:txBody>
      </p:sp>
      <p:sp>
        <p:nvSpPr>
          <p:cNvPr id="35" name="TextBox 34"/>
          <p:cNvSpPr txBox="1"/>
          <p:nvPr/>
        </p:nvSpPr>
        <p:spPr>
          <a:xfrm>
            <a:off x="8275320" y="4434840"/>
            <a:ext cx="3154680" cy="1005840"/>
          </a:xfrm>
          <a:prstGeom prst="rect">
            <a:avLst/>
          </a:prstGeom>
          <a:noFill/>
        </p:spPr>
        <p:txBody>
          <a:bodyPr wrap="square">
            <a:spAutoFit/>
          </a:bodyPr>
          <a:lstStyle/>
          <a:p>
            <a:r>
              <a:rPr sz="1300" b="0">
                <a:solidFill>
                  <a:srgbClr val="64748B"/>
                </a:solidFill>
                <a:latin typeface="Calibri"/>
              </a:rPr>
              <a:t>N-gram overlap with human briefs, not legal correctness.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194560" cy="2194560"/>
          </a:xfrm>
          <a:prstGeom prst="ellipse">
            <a:avLst/>
          </a:prstGeom>
          <a:solidFill>
            <a:srgbClr val="E2E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0" y="5303520"/>
            <a:ext cx="1645920" cy="1645920"/>
          </a:xfrm>
          <a:prstGeom prst="ellipse">
            <a:avLst/>
          </a:prstGeom>
          <a:solidFill>
            <a:srgbClr val="E8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0" y="182880"/>
            <a:ext cx="1463040" cy="640080"/>
          </a:xfrm>
          <a:prstGeom prst="rect">
            <a:avLst/>
          </a:prstGeom>
          <a:noFill/>
        </p:spPr>
        <p:txBody>
          <a:bodyPr wrap="none">
            <a:spAutoFit/>
          </a:bodyPr>
          <a:lstStyle/>
          <a:p>
            <a:pPr algn="r"/>
            <a:r>
              <a:rPr sz="3600" b="1">
                <a:solidFill>
                  <a:srgbClr val="D0D8E0"/>
                </a:solidFill>
                <a:latin typeface="Georgia"/>
              </a:rPr>
              <a:t>05</a:t>
            </a:r>
          </a:p>
        </p:txBody>
      </p:sp>
      <p:sp>
        <p:nvSpPr>
          <p:cNvPr id="8" name="TextBox 7"/>
          <p:cNvSpPr txBox="1"/>
          <p:nvPr/>
        </p:nvSpPr>
        <p:spPr>
          <a:xfrm>
            <a:off x="502920" y="256032"/>
            <a:ext cx="9601200" cy="502920"/>
          </a:xfrm>
          <a:prstGeom prst="rect">
            <a:avLst/>
          </a:prstGeom>
          <a:noFill/>
        </p:spPr>
        <p:txBody>
          <a:bodyPr wrap="none">
            <a:spAutoFit/>
          </a:bodyPr>
          <a:lstStyle/>
          <a:p>
            <a:r>
              <a:rPr sz="3000" b="1">
                <a:solidFill>
                  <a:srgbClr val="1E3A5F"/>
                </a:solidFill>
                <a:latin typeface="Georgia"/>
              </a:rPr>
              <a:t>Methodology &amp; Tech Stack</a:t>
            </a:r>
          </a:p>
        </p:txBody>
      </p:sp>
      <p:sp>
        <p:nvSpPr>
          <p:cNvPr id="9" name="TextBox 8"/>
          <p:cNvSpPr txBox="1"/>
          <p:nvPr/>
        </p:nvSpPr>
        <p:spPr>
          <a:xfrm>
            <a:off x="502920" y="749808"/>
            <a:ext cx="9601200" cy="320040"/>
          </a:xfrm>
          <a:prstGeom prst="rect">
            <a:avLst/>
          </a:prstGeom>
          <a:noFill/>
        </p:spPr>
        <p:txBody>
          <a:bodyPr wrap="none">
            <a:spAutoFit/>
          </a:bodyPr>
          <a:lstStyle/>
          <a:p>
            <a:r>
              <a:rPr sz="1300" b="0">
                <a:solidFill>
                  <a:srgbClr val="0D9488"/>
                </a:solidFill>
                <a:latin typeface="Calibri"/>
              </a:rPr>
              <a:t>Agile delivery + three-tier architecture</a:t>
            </a:r>
          </a:p>
        </p:txBody>
      </p:sp>
      <p:sp>
        <p:nvSpPr>
          <p:cNvPr id="10" name="Oval 9"/>
          <p:cNvSpPr/>
          <p:nvPr/>
        </p:nvSpPr>
        <p:spPr>
          <a:xfrm>
            <a:off x="502920" y="6510528"/>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19088"/>
            <a:ext cx="3657600" cy="274320"/>
          </a:xfrm>
          <a:prstGeom prst="rect">
            <a:avLst/>
          </a:prstGeom>
          <a:noFill/>
        </p:spPr>
        <p:txBody>
          <a:bodyPr wrap="none">
            <a:spAutoFit/>
          </a:bodyPr>
          <a:lstStyle/>
          <a:p>
            <a:r>
              <a:rPr sz="1100" b="0">
                <a:solidFill>
                  <a:srgbClr val="64748B"/>
                </a:solidFill>
                <a:latin typeface="Calibri"/>
              </a:rPr>
              <a:t>EasyCircular  ·  5/8</a:t>
            </a:r>
          </a:p>
        </p:txBody>
      </p:sp>
      <p:sp>
        <p:nvSpPr>
          <p:cNvPr id="12" name="TextBox 11"/>
          <p:cNvSpPr txBox="1"/>
          <p:nvPr/>
        </p:nvSpPr>
        <p:spPr>
          <a:xfrm>
            <a:off x="457200" y="1143000"/>
            <a:ext cx="11155680" cy="320040"/>
          </a:xfrm>
          <a:prstGeom prst="rect">
            <a:avLst/>
          </a:prstGeom>
          <a:noFill/>
        </p:spPr>
        <p:txBody>
          <a:bodyPr wrap="none">
            <a:spAutoFit/>
          </a:bodyPr>
          <a:lstStyle/>
          <a:p>
            <a:r>
              <a:rPr sz="1300" b="0">
                <a:solidFill>
                  <a:srgbClr val="64748B"/>
                </a:solidFill>
                <a:latin typeface="Calibri"/>
              </a:rPr>
              <a:t>Agile SDLC (~10 weeks): Foundation → Ingestion → AI Core → MVP → Validate</a:t>
            </a:r>
          </a:p>
        </p:txBody>
      </p:sp>
      <p:sp>
        <p:nvSpPr>
          <p:cNvPr id="13" name="Rounded Rectangle 12"/>
          <p:cNvSpPr/>
          <p:nvPr/>
        </p:nvSpPr>
        <p:spPr>
          <a:xfrm>
            <a:off x="457200" y="1554480"/>
            <a:ext cx="1115568" cy="347472"/>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600200"/>
            <a:ext cx="1115568" cy="274320"/>
          </a:xfrm>
          <a:prstGeom prst="rect">
            <a:avLst/>
          </a:prstGeom>
          <a:noFill/>
        </p:spPr>
        <p:txBody>
          <a:bodyPr wrap="none">
            <a:spAutoFit/>
          </a:bodyPr>
          <a:lstStyle/>
          <a:p>
            <a:pPr algn="ctr"/>
            <a:r>
              <a:rPr sz="1100" b="1">
                <a:solidFill>
                  <a:srgbClr val="FFFFFF"/>
                </a:solidFill>
                <a:latin typeface="Calibri"/>
              </a:rPr>
              <a:t>Next.js</a:t>
            </a:r>
          </a:p>
        </p:txBody>
      </p:sp>
      <p:sp>
        <p:nvSpPr>
          <p:cNvPr id="15" name="Rounded Rectangle 14"/>
          <p:cNvSpPr/>
          <p:nvPr/>
        </p:nvSpPr>
        <p:spPr>
          <a:xfrm>
            <a:off x="1737360" y="1554480"/>
            <a:ext cx="1115568" cy="347472"/>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37360" y="1600200"/>
            <a:ext cx="1115568" cy="274320"/>
          </a:xfrm>
          <a:prstGeom prst="rect">
            <a:avLst/>
          </a:prstGeom>
          <a:noFill/>
        </p:spPr>
        <p:txBody>
          <a:bodyPr wrap="none">
            <a:spAutoFit/>
          </a:bodyPr>
          <a:lstStyle/>
          <a:p>
            <a:pPr algn="ctr"/>
            <a:r>
              <a:rPr sz="1100" b="1">
                <a:solidFill>
                  <a:srgbClr val="FFFFFF"/>
                </a:solidFill>
                <a:latin typeface="Calibri"/>
              </a:rPr>
              <a:t>Express</a:t>
            </a:r>
          </a:p>
        </p:txBody>
      </p:sp>
      <p:sp>
        <p:nvSpPr>
          <p:cNvPr id="17" name="Rounded Rectangle 16"/>
          <p:cNvSpPr/>
          <p:nvPr/>
        </p:nvSpPr>
        <p:spPr>
          <a:xfrm>
            <a:off x="3017520" y="1554480"/>
            <a:ext cx="1115568" cy="347472"/>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1600200"/>
            <a:ext cx="1115568" cy="274320"/>
          </a:xfrm>
          <a:prstGeom prst="rect">
            <a:avLst/>
          </a:prstGeom>
          <a:noFill/>
        </p:spPr>
        <p:txBody>
          <a:bodyPr wrap="none">
            <a:spAutoFit/>
          </a:bodyPr>
          <a:lstStyle/>
          <a:p>
            <a:pPr algn="ctr"/>
            <a:r>
              <a:rPr sz="1100" b="1">
                <a:solidFill>
                  <a:srgbClr val="FFFFFF"/>
                </a:solidFill>
                <a:latin typeface="Calibri"/>
              </a:rPr>
              <a:t>FastAPI</a:t>
            </a:r>
          </a:p>
        </p:txBody>
      </p:sp>
      <p:sp>
        <p:nvSpPr>
          <p:cNvPr id="19" name="Rounded Rectangle 18"/>
          <p:cNvSpPr/>
          <p:nvPr/>
        </p:nvSpPr>
        <p:spPr>
          <a:xfrm>
            <a:off x="4297679" y="1554480"/>
            <a:ext cx="1115568" cy="347472"/>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79" y="1600200"/>
            <a:ext cx="1115568" cy="274320"/>
          </a:xfrm>
          <a:prstGeom prst="rect">
            <a:avLst/>
          </a:prstGeom>
          <a:noFill/>
        </p:spPr>
        <p:txBody>
          <a:bodyPr wrap="none">
            <a:spAutoFit/>
          </a:bodyPr>
          <a:lstStyle/>
          <a:p>
            <a:pPr algn="ctr"/>
            <a:r>
              <a:rPr sz="1100" b="1">
                <a:solidFill>
                  <a:srgbClr val="FFFFFF"/>
                </a:solidFill>
                <a:latin typeface="Calibri"/>
              </a:rPr>
              <a:t>MongoDB</a:t>
            </a:r>
          </a:p>
        </p:txBody>
      </p:sp>
      <p:sp>
        <p:nvSpPr>
          <p:cNvPr id="21" name="Rounded Rectangle 20"/>
          <p:cNvSpPr/>
          <p:nvPr/>
        </p:nvSpPr>
        <p:spPr>
          <a:xfrm>
            <a:off x="5577840" y="1554480"/>
            <a:ext cx="1014984" cy="347472"/>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1600200"/>
            <a:ext cx="1014984" cy="274320"/>
          </a:xfrm>
          <a:prstGeom prst="rect">
            <a:avLst/>
          </a:prstGeom>
          <a:noFill/>
        </p:spPr>
        <p:txBody>
          <a:bodyPr wrap="none">
            <a:spAutoFit/>
          </a:bodyPr>
          <a:lstStyle/>
          <a:p>
            <a:pPr algn="ctr"/>
            <a:r>
              <a:rPr sz="1100" b="1">
                <a:solidFill>
                  <a:srgbClr val="FFFFFF"/>
                </a:solidFill>
                <a:latin typeface="Calibri"/>
              </a:rPr>
              <a:t>Docker</a:t>
            </a:r>
          </a:p>
        </p:txBody>
      </p:sp>
      <p:sp>
        <p:nvSpPr>
          <p:cNvPr id="23" name="Rounded Rectangle 22"/>
          <p:cNvSpPr/>
          <p:nvPr/>
        </p:nvSpPr>
        <p:spPr>
          <a:xfrm>
            <a:off x="6757416" y="1554480"/>
            <a:ext cx="914400" cy="347472"/>
          </a:xfrm>
          <a:prstGeom prst="roundRect">
            <a:avLst>
              <a:gd name="adj" fmla="val 8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57416" y="1600200"/>
            <a:ext cx="914400" cy="274320"/>
          </a:xfrm>
          <a:prstGeom prst="rect">
            <a:avLst/>
          </a:prstGeom>
          <a:noFill/>
        </p:spPr>
        <p:txBody>
          <a:bodyPr wrap="none">
            <a:spAutoFit/>
          </a:bodyPr>
          <a:lstStyle/>
          <a:p>
            <a:pPr algn="ctr"/>
            <a:r>
              <a:rPr sz="1100" b="1">
                <a:solidFill>
                  <a:srgbClr val="FFFFFF"/>
                </a:solidFill>
                <a:latin typeface="Calibri"/>
              </a:rPr>
              <a:t>SpaCy</a:t>
            </a:r>
          </a:p>
        </p:txBody>
      </p:sp>
      <p:sp>
        <p:nvSpPr>
          <p:cNvPr id="25" name="Rounded Rectangle 24"/>
          <p:cNvSpPr/>
          <p:nvPr/>
        </p:nvSpPr>
        <p:spPr>
          <a:xfrm>
            <a:off x="7836408" y="1554480"/>
            <a:ext cx="1316736" cy="347472"/>
          </a:xfrm>
          <a:prstGeom prst="roundRect">
            <a:avLst>
              <a:gd name="adj" fmla="val 8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36408" y="1600200"/>
            <a:ext cx="1316736" cy="274320"/>
          </a:xfrm>
          <a:prstGeom prst="rect">
            <a:avLst/>
          </a:prstGeom>
          <a:noFill/>
        </p:spPr>
        <p:txBody>
          <a:bodyPr wrap="none">
            <a:spAutoFit/>
          </a:bodyPr>
          <a:lstStyle/>
          <a:p>
            <a:pPr algn="ctr"/>
            <a:r>
              <a:rPr sz="1100" b="1">
                <a:solidFill>
                  <a:srgbClr val="FFFFFF"/>
                </a:solidFill>
                <a:latin typeface="Calibri"/>
              </a:rPr>
              <a:t>LangChain</a:t>
            </a:r>
          </a:p>
        </p:txBody>
      </p:sp>
      <p:sp>
        <p:nvSpPr>
          <p:cNvPr id="27" name="Rounded Rectangle 26"/>
          <p:cNvSpPr/>
          <p:nvPr/>
        </p:nvSpPr>
        <p:spPr>
          <a:xfrm>
            <a:off x="9317736" y="1554480"/>
            <a:ext cx="1316736" cy="347472"/>
          </a:xfrm>
          <a:prstGeom prst="roundRect">
            <a:avLst>
              <a:gd name="adj" fmla="val 8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17736" y="1600200"/>
            <a:ext cx="1316736" cy="274320"/>
          </a:xfrm>
          <a:prstGeom prst="rect">
            <a:avLst/>
          </a:prstGeom>
          <a:noFill/>
        </p:spPr>
        <p:txBody>
          <a:bodyPr wrap="none">
            <a:spAutoFit/>
          </a:bodyPr>
          <a:lstStyle/>
          <a:p>
            <a:pPr algn="ctr"/>
            <a:r>
              <a:rPr sz="1100" b="1">
                <a:solidFill>
                  <a:srgbClr val="FFFFFF"/>
                </a:solidFill>
                <a:latin typeface="Calibri"/>
              </a:rPr>
              <a:t>Tesseract</a:t>
            </a:r>
          </a:p>
        </p:txBody>
      </p:sp>
      <p:sp>
        <p:nvSpPr>
          <p:cNvPr id="29" name="Rounded Rectangle 28"/>
          <p:cNvSpPr/>
          <p:nvPr/>
        </p:nvSpPr>
        <p:spPr>
          <a:xfrm>
            <a:off x="10799063" y="1554480"/>
            <a:ext cx="1014984" cy="347472"/>
          </a:xfrm>
          <a:prstGeom prst="roundRect">
            <a:avLst>
              <a:gd name="adj" fmla="val 8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799063" y="1600200"/>
            <a:ext cx="1014984" cy="274320"/>
          </a:xfrm>
          <a:prstGeom prst="rect">
            <a:avLst/>
          </a:prstGeom>
          <a:noFill/>
        </p:spPr>
        <p:txBody>
          <a:bodyPr wrap="none">
            <a:spAutoFit/>
          </a:bodyPr>
          <a:lstStyle/>
          <a:p>
            <a:pPr algn="ctr"/>
            <a:r>
              <a:rPr sz="1100" b="1">
                <a:solidFill>
                  <a:srgbClr val="FFFFFF"/>
                </a:solidFill>
                <a:latin typeface="Calibri"/>
              </a:rPr>
              <a:t>Ollama</a:t>
            </a:r>
          </a:p>
        </p:txBody>
      </p:sp>
      <p:sp>
        <p:nvSpPr>
          <p:cNvPr id="31" name="Rounded Rectangle 30"/>
          <p:cNvSpPr/>
          <p:nvPr/>
        </p:nvSpPr>
        <p:spPr>
          <a:xfrm>
            <a:off x="457200" y="2286000"/>
            <a:ext cx="1371600" cy="18288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 y="2788920"/>
            <a:ext cx="1225296" cy="914400"/>
          </a:xfrm>
          <a:prstGeom prst="rect">
            <a:avLst/>
          </a:prstGeom>
          <a:noFill/>
        </p:spPr>
        <p:txBody>
          <a:bodyPr wrap="square">
            <a:spAutoFit/>
          </a:bodyPr>
          <a:lstStyle/>
          <a:p>
            <a:pPr algn="ctr"/>
            <a:r>
              <a:rPr sz="1200" b="1">
                <a:solidFill>
                  <a:srgbClr val="FFFFFF"/>
                </a:solidFill>
                <a:latin typeface="Calibri"/>
              </a:rPr>
              <a:t>Upload /
MOE import</a:t>
            </a:r>
          </a:p>
        </p:txBody>
      </p:sp>
      <p:sp>
        <p:nvSpPr>
          <p:cNvPr id="33" name="TextBox 32"/>
          <p:cNvSpPr txBox="1"/>
          <p:nvPr/>
        </p:nvSpPr>
        <p:spPr>
          <a:xfrm>
            <a:off x="1810512" y="2971800"/>
            <a:ext cx="256032" cy="365760"/>
          </a:xfrm>
          <a:prstGeom prst="rect">
            <a:avLst/>
          </a:prstGeom>
          <a:noFill/>
        </p:spPr>
        <p:txBody>
          <a:bodyPr wrap="none">
            <a:spAutoFit/>
          </a:bodyPr>
          <a:lstStyle/>
          <a:p>
            <a:pPr algn="ctr"/>
            <a:r>
              <a:rPr sz="1600" b="1">
                <a:solidFill>
                  <a:srgbClr val="D97706"/>
                </a:solidFill>
                <a:latin typeface="Calibri"/>
              </a:rPr>
              <a:t>→</a:t>
            </a:r>
          </a:p>
        </p:txBody>
      </p:sp>
      <p:sp>
        <p:nvSpPr>
          <p:cNvPr id="34" name="Rounded Rectangle 33"/>
          <p:cNvSpPr/>
          <p:nvPr/>
        </p:nvSpPr>
        <p:spPr>
          <a:xfrm>
            <a:off x="2011680" y="2286000"/>
            <a:ext cx="1371600" cy="18288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84832" y="2788920"/>
            <a:ext cx="1225296" cy="914400"/>
          </a:xfrm>
          <a:prstGeom prst="rect">
            <a:avLst/>
          </a:prstGeom>
          <a:noFill/>
        </p:spPr>
        <p:txBody>
          <a:bodyPr wrap="square">
            <a:spAutoFit/>
          </a:bodyPr>
          <a:lstStyle/>
          <a:p>
            <a:pPr algn="ctr"/>
            <a:r>
              <a:rPr sz="1200" b="1">
                <a:solidFill>
                  <a:srgbClr val="FFFFFF"/>
                </a:solidFill>
                <a:latin typeface="Calibri"/>
              </a:rPr>
              <a:t>PDF /
OCR</a:t>
            </a:r>
          </a:p>
        </p:txBody>
      </p:sp>
      <p:sp>
        <p:nvSpPr>
          <p:cNvPr id="36" name="TextBox 35"/>
          <p:cNvSpPr txBox="1"/>
          <p:nvPr/>
        </p:nvSpPr>
        <p:spPr>
          <a:xfrm>
            <a:off x="3364992" y="2971800"/>
            <a:ext cx="256032" cy="365760"/>
          </a:xfrm>
          <a:prstGeom prst="rect">
            <a:avLst/>
          </a:prstGeom>
          <a:noFill/>
        </p:spPr>
        <p:txBody>
          <a:bodyPr wrap="none">
            <a:spAutoFit/>
          </a:bodyPr>
          <a:lstStyle/>
          <a:p>
            <a:pPr algn="ctr"/>
            <a:r>
              <a:rPr sz="1600" b="1">
                <a:solidFill>
                  <a:srgbClr val="D97706"/>
                </a:solidFill>
                <a:latin typeface="Calibri"/>
              </a:rPr>
              <a:t>→</a:t>
            </a:r>
          </a:p>
        </p:txBody>
      </p:sp>
      <p:sp>
        <p:nvSpPr>
          <p:cNvPr id="37" name="Rounded Rectangle 36"/>
          <p:cNvSpPr/>
          <p:nvPr/>
        </p:nvSpPr>
        <p:spPr>
          <a:xfrm>
            <a:off x="3566160" y="2286000"/>
            <a:ext cx="1371600" cy="1828800"/>
          </a:xfrm>
          <a:prstGeom prst="roundRect">
            <a:avLst>
              <a:gd name="adj" fmla="val 8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39312" y="2788920"/>
            <a:ext cx="1225296" cy="914400"/>
          </a:xfrm>
          <a:prstGeom prst="rect">
            <a:avLst/>
          </a:prstGeom>
          <a:noFill/>
        </p:spPr>
        <p:txBody>
          <a:bodyPr wrap="square">
            <a:spAutoFit/>
          </a:bodyPr>
          <a:lstStyle/>
          <a:p>
            <a:pPr algn="ctr"/>
            <a:r>
              <a:rPr sz="1200" b="1">
                <a:solidFill>
                  <a:srgbClr val="FFFFFF"/>
                </a:solidFill>
                <a:latin typeface="Calibri"/>
              </a:rPr>
              <a:t>Human
review</a:t>
            </a:r>
          </a:p>
        </p:txBody>
      </p:sp>
      <p:sp>
        <p:nvSpPr>
          <p:cNvPr id="39" name="TextBox 38"/>
          <p:cNvSpPr txBox="1"/>
          <p:nvPr/>
        </p:nvSpPr>
        <p:spPr>
          <a:xfrm>
            <a:off x="4919472" y="2971800"/>
            <a:ext cx="256032" cy="365760"/>
          </a:xfrm>
          <a:prstGeom prst="rect">
            <a:avLst/>
          </a:prstGeom>
          <a:noFill/>
        </p:spPr>
        <p:txBody>
          <a:bodyPr wrap="none">
            <a:spAutoFit/>
          </a:bodyPr>
          <a:lstStyle/>
          <a:p>
            <a:pPr algn="ctr"/>
            <a:r>
              <a:rPr sz="1600" b="1">
                <a:solidFill>
                  <a:srgbClr val="D97706"/>
                </a:solidFill>
                <a:latin typeface="Calibri"/>
              </a:rPr>
              <a:t>→</a:t>
            </a:r>
          </a:p>
        </p:txBody>
      </p:sp>
      <p:sp>
        <p:nvSpPr>
          <p:cNvPr id="40" name="Rounded Rectangle 39"/>
          <p:cNvSpPr/>
          <p:nvPr/>
        </p:nvSpPr>
        <p:spPr>
          <a:xfrm>
            <a:off x="5120640" y="2286000"/>
            <a:ext cx="1371600" cy="18288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93792" y="2788920"/>
            <a:ext cx="1225296" cy="914400"/>
          </a:xfrm>
          <a:prstGeom prst="rect">
            <a:avLst/>
          </a:prstGeom>
          <a:noFill/>
        </p:spPr>
        <p:txBody>
          <a:bodyPr wrap="square">
            <a:spAutoFit/>
          </a:bodyPr>
          <a:lstStyle/>
          <a:p>
            <a:pPr algn="ctr"/>
            <a:r>
              <a:rPr sz="1200" b="1">
                <a:solidFill>
                  <a:srgbClr val="FFFFFF"/>
                </a:solidFill>
                <a:latin typeface="Calibri"/>
              </a:rPr>
              <a:t>SpaCy
NER</a:t>
            </a:r>
          </a:p>
        </p:txBody>
      </p:sp>
      <p:sp>
        <p:nvSpPr>
          <p:cNvPr id="42" name="TextBox 41"/>
          <p:cNvSpPr txBox="1"/>
          <p:nvPr/>
        </p:nvSpPr>
        <p:spPr>
          <a:xfrm>
            <a:off x="6473952" y="2971800"/>
            <a:ext cx="256032" cy="365760"/>
          </a:xfrm>
          <a:prstGeom prst="rect">
            <a:avLst/>
          </a:prstGeom>
          <a:noFill/>
        </p:spPr>
        <p:txBody>
          <a:bodyPr wrap="none">
            <a:spAutoFit/>
          </a:bodyPr>
          <a:lstStyle/>
          <a:p>
            <a:pPr algn="ctr"/>
            <a:r>
              <a:rPr sz="1600" b="1">
                <a:solidFill>
                  <a:srgbClr val="D97706"/>
                </a:solidFill>
                <a:latin typeface="Calibri"/>
              </a:rPr>
              <a:t>→</a:t>
            </a:r>
          </a:p>
        </p:txBody>
      </p:sp>
      <p:sp>
        <p:nvSpPr>
          <p:cNvPr id="43" name="Rounded Rectangle 42"/>
          <p:cNvSpPr/>
          <p:nvPr/>
        </p:nvSpPr>
        <p:spPr>
          <a:xfrm>
            <a:off x="6675120" y="2286000"/>
            <a:ext cx="1371600" cy="18288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48272" y="2788920"/>
            <a:ext cx="1225296" cy="914400"/>
          </a:xfrm>
          <a:prstGeom prst="rect">
            <a:avLst/>
          </a:prstGeom>
          <a:noFill/>
        </p:spPr>
        <p:txBody>
          <a:bodyPr wrap="square">
            <a:spAutoFit/>
          </a:bodyPr>
          <a:lstStyle/>
          <a:p>
            <a:pPr algn="ctr"/>
            <a:r>
              <a:rPr sz="1200" b="1">
                <a:solidFill>
                  <a:srgbClr val="FFFFFF"/>
                </a:solidFill>
                <a:latin typeface="Calibri"/>
              </a:rPr>
              <a:t>LLM map-
reduce</a:t>
            </a:r>
          </a:p>
        </p:txBody>
      </p:sp>
      <p:sp>
        <p:nvSpPr>
          <p:cNvPr id="45" name="TextBox 44"/>
          <p:cNvSpPr txBox="1"/>
          <p:nvPr/>
        </p:nvSpPr>
        <p:spPr>
          <a:xfrm>
            <a:off x="8028432" y="2971800"/>
            <a:ext cx="256032" cy="365760"/>
          </a:xfrm>
          <a:prstGeom prst="rect">
            <a:avLst/>
          </a:prstGeom>
          <a:noFill/>
        </p:spPr>
        <p:txBody>
          <a:bodyPr wrap="none">
            <a:spAutoFit/>
          </a:bodyPr>
          <a:lstStyle/>
          <a:p>
            <a:pPr algn="ctr"/>
            <a:r>
              <a:rPr sz="1600" b="1">
                <a:solidFill>
                  <a:srgbClr val="D97706"/>
                </a:solidFill>
                <a:latin typeface="Calibri"/>
              </a:rPr>
              <a:t>→</a:t>
            </a:r>
          </a:p>
        </p:txBody>
      </p:sp>
      <p:sp>
        <p:nvSpPr>
          <p:cNvPr id="46" name="Rounded Rectangle 45"/>
          <p:cNvSpPr/>
          <p:nvPr/>
        </p:nvSpPr>
        <p:spPr>
          <a:xfrm>
            <a:off x="8229600" y="2286000"/>
            <a:ext cx="1371600" cy="1828800"/>
          </a:xfrm>
          <a:prstGeom prst="roundRect">
            <a:avLst>
              <a:gd name="adj" fmla="val 8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02752" y="2788920"/>
            <a:ext cx="1225296" cy="914400"/>
          </a:xfrm>
          <a:prstGeom prst="rect">
            <a:avLst/>
          </a:prstGeom>
          <a:noFill/>
        </p:spPr>
        <p:txBody>
          <a:bodyPr wrap="square">
            <a:spAutoFit/>
          </a:bodyPr>
          <a:lstStyle/>
          <a:p>
            <a:pPr algn="ctr"/>
            <a:r>
              <a:rPr sz="1200" b="1">
                <a:solidFill>
                  <a:srgbClr val="FFFFFF"/>
                </a:solidFill>
                <a:latin typeface="Calibri"/>
              </a:rPr>
              <a:t>Date
guardrails</a:t>
            </a:r>
          </a:p>
        </p:txBody>
      </p:sp>
      <p:sp>
        <p:nvSpPr>
          <p:cNvPr id="48" name="TextBox 47"/>
          <p:cNvSpPr txBox="1"/>
          <p:nvPr/>
        </p:nvSpPr>
        <p:spPr>
          <a:xfrm>
            <a:off x="9582912" y="2971800"/>
            <a:ext cx="256032" cy="365760"/>
          </a:xfrm>
          <a:prstGeom prst="rect">
            <a:avLst/>
          </a:prstGeom>
          <a:noFill/>
        </p:spPr>
        <p:txBody>
          <a:bodyPr wrap="none">
            <a:spAutoFit/>
          </a:bodyPr>
          <a:lstStyle/>
          <a:p>
            <a:pPr algn="ctr"/>
            <a:r>
              <a:rPr sz="1600" b="1">
                <a:solidFill>
                  <a:srgbClr val="D97706"/>
                </a:solidFill>
                <a:latin typeface="Calibri"/>
              </a:rPr>
              <a:t>→</a:t>
            </a:r>
          </a:p>
        </p:txBody>
      </p:sp>
      <p:sp>
        <p:nvSpPr>
          <p:cNvPr id="49" name="Rounded Rectangle 48"/>
          <p:cNvSpPr/>
          <p:nvPr/>
        </p:nvSpPr>
        <p:spPr>
          <a:xfrm>
            <a:off x="9784080" y="2286000"/>
            <a:ext cx="1371600" cy="182880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57232" y="2788920"/>
            <a:ext cx="1225296" cy="914400"/>
          </a:xfrm>
          <a:prstGeom prst="rect">
            <a:avLst/>
          </a:prstGeom>
          <a:noFill/>
        </p:spPr>
        <p:txBody>
          <a:bodyPr wrap="square">
            <a:spAutoFit/>
          </a:bodyPr>
          <a:lstStyle/>
          <a:p>
            <a:pPr algn="ctr"/>
            <a:r>
              <a:rPr sz="1200" b="1">
                <a:solidFill>
                  <a:srgbClr val="FFFFFF"/>
                </a:solidFill>
                <a:latin typeface="Calibri"/>
              </a:rPr>
              <a:t>Structured
summary</a:t>
            </a:r>
          </a:p>
        </p:txBody>
      </p:sp>
      <p:sp>
        <p:nvSpPr>
          <p:cNvPr id="51" name="TextBox 50"/>
          <p:cNvSpPr txBox="1"/>
          <p:nvPr/>
        </p:nvSpPr>
        <p:spPr>
          <a:xfrm>
            <a:off x="457200" y="4343400"/>
            <a:ext cx="11155680" cy="1371600"/>
          </a:xfrm>
          <a:prstGeom prst="rect">
            <a:avLst/>
          </a:prstGeom>
          <a:noFill/>
        </p:spPr>
        <p:txBody>
          <a:bodyPr wrap="square">
            <a:spAutoFit/>
          </a:bodyPr>
          <a:lstStyle/>
          <a:p>
            <a:r>
              <a:rPr sz="1300" b="0">
                <a:solidFill>
                  <a:srgbClr val="64748B"/>
                </a:solidFill>
                <a:latin typeface="Calibri"/>
              </a:rPr>
              <a:t>Pipeline: PDF/OCR → mandatory text review → NER → LLM summary → date/topic guardrails (TextRank fallback on failure). Content-hash cache ~114 ms. Teal steps = safety controls.</a:t>
            </a:r>
          </a:p>
          <a:p>
            <a:pPr>
              <a:spcBef>
                <a:spcPts val="800"/>
              </a:spcBef>
            </a:pPr>
            <a:r>
              <a:rPr sz="1300" b="1">
                <a:solidFill>
                  <a:srgbClr val="1E3A5F"/>
                </a:solidFill>
                <a:latin typeface="Calibri"/>
              </a:rPr>
              <a:t>Stack: Next.js + TypeScript UI · Express.js + JWT API · FastAPI AI · MongoDB · Docker Compose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194560" cy="2194560"/>
          </a:xfrm>
          <a:prstGeom prst="ellipse">
            <a:avLst/>
          </a:prstGeom>
          <a:solidFill>
            <a:srgbClr val="E2E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0" y="5303520"/>
            <a:ext cx="1645920" cy="1645920"/>
          </a:xfrm>
          <a:prstGeom prst="ellipse">
            <a:avLst/>
          </a:prstGeom>
          <a:solidFill>
            <a:srgbClr val="E8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0" y="182880"/>
            <a:ext cx="1463040" cy="640080"/>
          </a:xfrm>
          <a:prstGeom prst="rect">
            <a:avLst/>
          </a:prstGeom>
          <a:noFill/>
        </p:spPr>
        <p:txBody>
          <a:bodyPr wrap="none">
            <a:spAutoFit/>
          </a:bodyPr>
          <a:lstStyle/>
          <a:p>
            <a:pPr algn="r"/>
            <a:r>
              <a:rPr sz="3600" b="1">
                <a:solidFill>
                  <a:srgbClr val="D0D8E0"/>
                </a:solidFill>
                <a:latin typeface="Georgia"/>
              </a:rPr>
              <a:t>06</a:t>
            </a:r>
          </a:p>
        </p:txBody>
      </p:sp>
      <p:sp>
        <p:nvSpPr>
          <p:cNvPr id="8" name="TextBox 7"/>
          <p:cNvSpPr txBox="1"/>
          <p:nvPr/>
        </p:nvSpPr>
        <p:spPr>
          <a:xfrm>
            <a:off x="502920" y="256032"/>
            <a:ext cx="9601200" cy="502920"/>
          </a:xfrm>
          <a:prstGeom prst="rect">
            <a:avLst/>
          </a:prstGeom>
          <a:noFill/>
        </p:spPr>
        <p:txBody>
          <a:bodyPr wrap="none">
            <a:spAutoFit/>
          </a:bodyPr>
          <a:lstStyle/>
          <a:p>
            <a:r>
              <a:rPr sz="3000" b="1">
                <a:solidFill>
                  <a:srgbClr val="1E3A5F"/>
                </a:solidFill>
                <a:latin typeface="Georgia"/>
              </a:rPr>
              <a:t>Key Contribution</a:t>
            </a:r>
          </a:p>
        </p:txBody>
      </p:sp>
      <p:sp>
        <p:nvSpPr>
          <p:cNvPr id="9" name="TextBox 8"/>
          <p:cNvSpPr txBox="1"/>
          <p:nvPr/>
        </p:nvSpPr>
        <p:spPr>
          <a:xfrm>
            <a:off x="502920" y="749808"/>
            <a:ext cx="9601200" cy="320040"/>
          </a:xfrm>
          <a:prstGeom prst="rect">
            <a:avLst/>
          </a:prstGeom>
          <a:noFill/>
        </p:spPr>
        <p:txBody>
          <a:bodyPr wrap="none">
            <a:spAutoFit/>
          </a:bodyPr>
          <a:lstStyle/>
          <a:p>
            <a:r>
              <a:rPr sz="1300" b="0">
                <a:solidFill>
                  <a:srgbClr val="0D9488"/>
                </a:solidFill>
                <a:latin typeface="Calibri"/>
              </a:rPr>
              <a:t>What is new beyond a generic chatbot</a:t>
            </a:r>
          </a:p>
        </p:txBody>
      </p:sp>
      <p:sp>
        <p:nvSpPr>
          <p:cNvPr id="10" name="Oval 9"/>
          <p:cNvSpPr/>
          <p:nvPr/>
        </p:nvSpPr>
        <p:spPr>
          <a:xfrm>
            <a:off x="502920" y="6510528"/>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19088"/>
            <a:ext cx="3657600" cy="274320"/>
          </a:xfrm>
          <a:prstGeom prst="rect">
            <a:avLst/>
          </a:prstGeom>
          <a:noFill/>
        </p:spPr>
        <p:txBody>
          <a:bodyPr wrap="none">
            <a:spAutoFit/>
          </a:bodyPr>
          <a:lstStyle/>
          <a:p>
            <a:r>
              <a:rPr sz="1100" b="0">
                <a:solidFill>
                  <a:srgbClr val="64748B"/>
                </a:solidFill>
                <a:latin typeface="Calibri"/>
              </a:rPr>
              <a:t>EasyCircular  ·  6/8</a:t>
            </a:r>
          </a:p>
        </p:txBody>
      </p:sp>
      <p:sp>
        <p:nvSpPr>
          <p:cNvPr id="12" name="Rounded Rectangle 11"/>
          <p:cNvSpPr/>
          <p:nvPr/>
        </p:nvSpPr>
        <p:spPr>
          <a:xfrm>
            <a:off x="457200" y="1188720"/>
            <a:ext cx="11155680" cy="1005840"/>
          </a:xfrm>
          <a:prstGeom prst="roundRect">
            <a:avLst>
              <a:gd name="adj" fmla="val 800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371600"/>
            <a:ext cx="10607040" cy="685800"/>
          </a:xfrm>
          <a:prstGeom prst="rect">
            <a:avLst/>
          </a:prstGeom>
          <a:noFill/>
        </p:spPr>
        <p:txBody>
          <a:bodyPr wrap="none">
            <a:spAutoFit/>
          </a:bodyPr>
          <a:lstStyle/>
          <a:p>
            <a:pPr algn="ctr"/>
            <a:r>
              <a:rPr sz="2200" b="1">
                <a:solidFill>
                  <a:srgbClr val="FFFFFF"/>
                </a:solidFill>
                <a:latin typeface="Georgia"/>
              </a:rPr>
              <a:t>Guarded, review-first MOE circular pipeline</a:t>
            </a:r>
          </a:p>
        </p:txBody>
      </p:sp>
      <p:sp>
        <p:nvSpPr>
          <p:cNvPr id="14" name="Rounded Rectangle 13"/>
          <p:cNvSpPr/>
          <p:nvPr/>
        </p:nvSpPr>
        <p:spPr>
          <a:xfrm>
            <a:off x="457200" y="2468880"/>
            <a:ext cx="361188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468880"/>
            <a:ext cx="361188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74519" y="2697480"/>
            <a:ext cx="640080" cy="64008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74519" y="2788920"/>
            <a:ext cx="640080" cy="457200"/>
          </a:xfrm>
          <a:prstGeom prst="rect">
            <a:avLst/>
          </a:prstGeom>
          <a:noFill/>
        </p:spPr>
        <p:txBody>
          <a:bodyPr wrap="none">
            <a:spAutoFit/>
          </a:bodyPr>
          <a:lstStyle/>
          <a:p>
            <a:pPr algn="ctr"/>
            <a:r>
              <a:rPr sz="1800" b="1">
                <a:solidFill>
                  <a:srgbClr val="FFFFFF"/>
                </a:solidFill>
                <a:latin typeface="Georgia"/>
              </a:rPr>
              <a:t>1</a:t>
            </a:r>
          </a:p>
        </p:txBody>
      </p:sp>
      <p:sp>
        <p:nvSpPr>
          <p:cNvPr id="18" name="TextBox 17"/>
          <p:cNvSpPr txBox="1"/>
          <p:nvPr/>
        </p:nvSpPr>
        <p:spPr>
          <a:xfrm>
            <a:off x="685800" y="3520440"/>
            <a:ext cx="3154680" cy="457200"/>
          </a:xfrm>
          <a:prstGeom prst="rect">
            <a:avLst/>
          </a:prstGeom>
          <a:noFill/>
        </p:spPr>
        <p:txBody>
          <a:bodyPr wrap="none">
            <a:spAutoFit/>
          </a:bodyPr>
          <a:lstStyle/>
          <a:p>
            <a:pPr algn="ctr"/>
            <a:r>
              <a:rPr sz="1600" b="1">
                <a:solidFill>
                  <a:srgbClr val="1E3A5F"/>
                </a:solidFill>
                <a:latin typeface="Georgia"/>
              </a:rPr>
              <a:t>Review gate</a:t>
            </a:r>
          </a:p>
        </p:txBody>
      </p:sp>
      <p:sp>
        <p:nvSpPr>
          <p:cNvPr id="19" name="TextBox 18"/>
          <p:cNvSpPr txBox="1"/>
          <p:nvPr/>
        </p:nvSpPr>
        <p:spPr>
          <a:xfrm>
            <a:off x="731520" y="4114800"/>
            <a:ext cx="3063240" cy="1371600"/>
          </a:xfrm>
          <a:prstGeom prst="rect">
            <a:avLst/>
          </a:prstGeom>
          <a:noFill/>
        </p:spPr>
        <p:txBody>
          <a:bodyPr wrap="square">
            <a:spAutoFit/>
          </a:bodyPr>
          <a:lstStyle/>
          <a:p>
            <a:pPr algn="ctr"/>
            <a:r>
              <a:rPr sz="1300" b="0">
                <a:solidFill>
                  <a:srgbClr val="64748B"/>
                </a:solidFill>
                <a:latin typeface="Calibri"/>
              </a:rPr>
              <a:t>Mandatory OCR/text confirmation before any AI summarisation runs.</a:t>
            </a:r>
          </a:p>
        </p:txBody>
      </p:sp>
      <p:sp>
        <p:nvSpPr>
          <p:cNvPr id="20" name="Rounded Rectangle 19"/>
          <p:cNvSpPr/>
          <p:nvPr/>
        </p:nvSpPr>
        <p:spPr>
          <a:xfrm>
            <a:off x="4251960" y="2468880"/>
            <a:ext cx="361188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51960" y="2468880"/>
            <a:ext cx="3611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69280" y="2697480"/>
            <a:ext cx="640080" cy="64008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0" y="2788920"/>
            <a:ext cx="640080" cy="457200"/>
          </a:xfrm>
          <a:prstGeom prst="rect">
            <a:avLst/>
          </a:prstGeom>
          <a:noFill/>
        </p:spPr>
        <p:txBody>
          <a:bodyPr wrap="none">
            <a:spAutoFit/>
          </a:bodyPr>
          <a:lstStyle/>
          <a:p>
            <a:pPr algn="ctr"/>
            <a:r>
              <a:rPr sz="1800" b="1">
                <a:solidFill>
                  <a:srgbClr val="FFFFFF"/>
                </a:solidFill>
                <a:latin typeface="Georgia"/>
              </a:rPr>
              <a:t>2</a:t>
            </a:r>
          </a:p>
        </p:txBody>
      </p:sp>
      <p:sp>
        <p:nvSpPr>
          <p:cNvPr id="24" name="TextBox 23"/>
          <p:cNvSpPr txBox="1"/>
          <p:nvPr/>
        </p:nvSpPr>
        <p:spPr>
          <a:xfrm>
            <a:off x="4480560" y="3520440"/>
            <a:ext cx="3154680" cy="457200"/>
          </a:xfrm>
          <a:prstGeom prst="rect">
            <a:avLst/>
          </a:prstGeom>
          <a:noFill/>
        </p:spPr>
        <p:txBody>
          <a:bodyPr wrap="none">
            <a:spAutoFit/>
          </a:bodyPr>
          <a:lstStyle/>
          <a:p>
            <a:pPr algn="ctr"/>
            <a:r>
              <a:rPr sz="1600" b="1">
                <a:solidFill>
                  <a:srgbClr val="1E3A5F"/>
                </a:solidFill>
                <a:latin typeface="Georgia"/>
              </a:rPr>
              <a:t>Date guardrails</a:t>
            </a:r>
          </a:p>
        </p:txBody>
      </p:sp>
      <p:sp>
        <p:nvSpPr>
          <p:cNvPr id="25" name="TextBox 24"/>
          <p:cNvSpPr txBox="1"/>
          <p:nvPr/>
        </p:nvSpPr>
        <p:spPr>
          <a:xfrm>
            <a:off x="4526280" y="4114800"/>
            <a:ext cx="3063240" cy="1371600"/>
          </a:xfrm>
          <a:prstGeom prst="rect">
            <a:avLst/>
          </a:prstGeom>
          <a:noFill/>
        </p:spPr>
        <p:txBody>
          <a:bodyPr wrap="square">
            <a:spAutoFit/>
          </a:bodyPr>
          <a:lstStyle/>
          <a:p>
            <a:pPr algn="ctr"/>
            <a:r>
              <a:rPr sz="1300" b="0">
                <a:solidFill>
                  <a:srgbClr val="64748B"/>
                </a:solidFill>
                <a:latin typeface="Calibri"/>
              </a:rPr>
              <a:t>~15% of LLM outputs rejected for invented dates, then extractive fallback.</a:t>
            </a:r>
          </a:p>
        </p:txBody>
      </p:sp>
      <p:sp>
        <p:nvSpPr>
          <p:cNvPr id="26" name="Rounded Rectangle 25"/>
          <p:cNvSpPr/>
          <p:nvPr/>
        </p:nvSpPr>
        <p:spPr>
          <a:xfrm>
            <a:off x="8046720" y="2468880"/>
            <a:ext cx="361188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2468880"/>
            <a:ext cx="3611880" cy="7315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464040" y="2697480"/>
            <a:ext cx="640080" cy="64008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64040" y="2788920"/>
            <a:ext cx="640080" cy="457200"/>
          </a:xfrm>
          <a:prstGeom prst="rect">
            <a:avLst/>
          </a:prstGeom>
          <a:noFill/>
        </p:spPr>
        <p:txBody>
          <a:bodyPr wrap="none">
            <a:spAutoFit/>
          </a:bodyPr>
          <a:lstStyle/>
          <a:p>
            <a:pPr algn="ctr"/>
            <a:r>
              <a:rPr sz="1800" b="1">
                <a:solidFill>
                  <a:srgbClr val="FFFFFF"/>
                </a:solidFill>
                <a:latin typeface="Georgia"/>
              </a:rPr>
              <a:t>3</a:t>
            </a:r>
          </a:p>
        </p:txBody>
      </p:sp>
      <p:sp>
        <p:nvSpPr>
          <p:cNvPr id="30" name="TextBox 29"/>
          <p:cNvSpPr txBox="1"/>
          <p:nvPr/>
        </p:nvSpPr>
        <p:spPr>
          <a:xfrm>
            <a:off x="8275320" y="3520440"/>
            <a:ext cx="3154680" cy="457200"/>
          </a:xfrm>
          <a:prstGeom prst="rect">
            <a:avLst/>
          </a:prstGeom>
          <a:noFill/>
        </p:spPr>
        <p:txBody>
          <a:bodyPr wrap="none">
            <a:spAutoFit/>
          </a:bodyPr>
          <a:lstStyle/>
          <a:p>
            <a:pPr algn="ctr"/>
            <a:r>
              <a:rPr sz="1600" b="1">
                <a:solidFill>
                  <a:srgbClr val="1E3A5F"/>
                </a:solidFill>
                <a:latin typeface="Georgia"/>
              </a:rPr>
              <a:t>Structured brief</a:t>
            </a:r>
          </a:p>
        </p:txBody>
      </p:sp>
      <p:sp>
        <p:nvSpPr>
          <p:cNvPr id="31" name="TextBox 30"/>
          <p:cNvSpPr txBox="1"/>
          <p:nvPr/>
        </p:nvSpPr>
        <p:spPr>
          <a:xfrm>
            <a:off x="8321040" y="4114800"/>
            <a:ext cx="3063240" cy="1371600"/>
          </a:xfrm>
          <a:prstGeom prst="rect">
            <a:avLst/>
          </a:prstGeom>
          <a:noFill/>
        </p:spPr>
        <p:txBody>
          <a:bodyPr wrap="square">
            <a:spAutoFit/>
          </a:bodyPr>
          <a:lstStyle/>
          <a:p>
            <a:pPr algn="ctr"/>
            <a:r>
              <a:rPr sz="1300" b="0">
                <a:solidFill>
                  <a:srgbClr val="64748B"/>
                </a:solidFill>
                <a:latin typeface="Calibri"/>
              </a:rPr>
              <a:t>Purpose, audience, requirements, actions, dates + entity highlights. MOE import &amp; export.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194560" cy="2194560"/>
          </a:xfrm>
          <a:prstGeom prst="ellipse">
            <a:avLst/>
          </a:prstGeom>
          <a:solidFill>
            <a:srgbClr val="E2E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0" y="5303520"/>
            <a:ext cx="1645920" cy="1645920"/>
          </a:xfrm>
          <a:prstGeom prst="ellipse">
            <a:avLst/>
          </a:prstGeom>
          <a:solidFill>
            <a:srgbClr val="E8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0" y="182880"/>
            <a:ext cx="1463040" cy="640080"/>
          </a:xfrm>
          <a:prstGeom prst="rect">
            <a:avLst/>
          </a:prstGeom>
          <a:noFill/>
        </p:spPr>
        <p:txBody>
          <a:bodyPr wrap="none">
            <a:spAutoFit/>
          </a:bodyPr>
          <a:lstStyle/>
          <a:p>
            <a:pPr algn="r"/>
            <a:r>
              <a:rPr sz="3600" b="1">
                <a:solidFill>
                  <a:srgbClr val="D0D8E0"/>
                </a:solidFill>
                <a:latin typeface="Georgia"/>
              </a:rPr>
              <a:t>07</a:t>
            </a:r>
          </a:p>
        </p:txBody>
      </p:sp>
      <p:sp>
        <p:nvSpPr>
          <p:cNvPr id="8" name="TextBox 7"/>
          <p:cNvSpPr txBox="1"/>
          <p:nvPr/>
        </p:nvSpPr>
        <p:spPr>
          <a:xfrm>
            <a:off x="502920" y="256032"/>
            <a:ext cx="9601200" cy="502920"/>
          </a:xfrm>
          <a:prstGeom prst="rect">
            <a:avLst/>
          </a:prstGeom>
          <a:noFill/>
        </p:spPr>
        <p:txBody>
          <a:bodyPr wrap="none">
            <a:spAutoFit/>
          </a:bodyPr>
          <a:lstStyle/>
          <a:p>
            <a:r>
              <a:rPr sz="3000" b="1">
                <a:solidFill>
                  <a:srgbClr val="1E3A5F"/>
                </a:solidFill>
                <a:latin typeface="Georgia"/>
              </a:rPr>
              <a:t>Evaluation &amp; Test Results</a:t>
            </a:r>
          </a:p>
        </p:txBody>
      </p:sp>
      <p:sp>
        <p:nvSpPr>
          <p:cNvPr id="9" name="TextBox 8"/>
          <p:cNvSpPr txBox="1"/>
          <p:nvPr/>
        </p:nvSpPr>
        <p:spPr>
          <a:xfrm>
            <a:off x="502920" y="749808"/>
            <a:ext cx="9601200" cy="320040"/>
          </a:xfrm>
          <a:prstGeom prst="rect">
            <a:avLst/>
          </a:prstGeom>
          <a:noFill/>
        </p:spPr>
        <p:txBody>
          <a:bodyPr wrap="none">
            <a:spAutoFit/>
          </a:bodyPr>
          <a:lstStyle/>
          <a:p>
            <a:r>
              <a:rPr sz="1300" b="0">
                <a:solidFill>
                  <a:srgbClr val="0D9488"/>
                </a:solidFill>
                <a:latin typeface="Calibri"/>
              </a:rPr>
              <a:t>Survey, ROUGE, latency, and automated tests</a:t>
            </a:r>
          </a:p>
        </p:txBody>
      </p:sp>
      <p:sp>
        <p:nvSpPr>
          <p:cNvPr id="10" name="Oval 9"/>
          <p:cNvSpPr/>
          <p:nvPr/>
        </p:nvSpPr>
        <p:spPr>
          <a:xfrm>
            <a:off x="502920" y="6510528"/>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19088"/>
            <a:ext cx="3657600" cy="274320"/>
          </a:xfrm>
          <a:prstGeom prst="rect">
            <a:avLst/>
          </a:prstGeom>
          <a:noFill/>
        </p:spPr>
        <p:txBody>
          <a:bodyPr wrap="none">
            <a:spAutoFit/>
          </a:bodyPr>
          <a:lstStyle/>
          <a:p>
            <a:r>
              <a:rPr sz="1100" b="0">
                <a:solidFill>
                  <a:srgbClr val="64748B"/>
                </a:solidFill>
                <a:latin typeface="Calibri"/>
              </a:rPr>
              <a:t>EasyCircular  ·  7/8</a:t>
            </a:r>
          </a:p>
        </p:txBody>
      </p:sp>
      <p:sp>
        <p:nvSpPr>
          <p:cNvPr id="12" name="Rounded Rectangle 11"/>
          <p:cNvSpPr/>
          <p:nvPr/>
        </p:nvSpPr>
        <p:spPr>
          <a:xfrm>
            <a:off x="457200" y="1234440"/>
            <a:ext cx="2743200" cy="3383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234440"/>
            <a:ext cx="27432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554480"/>
            <a:ext cx="2468880" cy="777240"/>
          </a:xfrm>
          <a:prstGeom prst="rect">
            <a:avLst/>
          </a:prstGeom>
          <a:noFill/>
        </p:spPr>
        <p:txBody>
          <a:bodyPr wrap="none">
            <a:spAutoFit/>
          </a:bodyPr>
          <a:lstStyle/>
          <a:p>
            <a:pPr algn="ctr"/>
            <a:r>
              <a:rPr sz="2800" b="1">
                <a:solidFill>
                  <a:srgbClr val="1E3A5F"/>
                </a:solidFill>
                <a:latin typeface="Georgia"/>
              </a:rPr>
              <a:t>97.6%</a:t>
            </a:r>
          </a:p>
        </p:txBody>
      </p:sp>
      <p:sp>
        <p:nvSpPr>
          <p:cNvPr id="15" name="TextBox 14"/>
          <p:cNvSpPr txBox="1"/>
          <p:nvPr/>
        </p:nvSpPr>
        <p:spPr>
          <a:xfrm>
            <a:off x="640080" y="2468880"/>
            <a:ext cx="2377440" cy="1828800"/>
          </a:xfrm>
          <a:prstGeom prst="rect">
            <a:avLst/>
          </a:prstGeom>
          <a:noFill/>
        </p:spPr>
        <p:txBody>
          <a:bodyPr wrap="square">
            <a:spAutoFit/>
          </a:bodyPr>
          <a:lstStyle/>
          <a:p>
            <a:pPr algn="ctr"/>
            <a:r>
              <a:rPr sz="1300" b="0">
                <a:solidFill>
                  <a:srgbClr val="64748B"/>
                </a:solidFill>
                <a:latin typeface="Calibri"/>
              </a:rPr>
              <a:t>Survey n=41
want summaries
78% entity useful</a:t>
            </a:r>
          </a:p>
        </p:txBody>
      </p:sp>
      <p:sp>
        <p:nvSpPr>
          <p:cNvPr id="16" name="Rounded Rectangle 15"/>
          <p:cNvSpPr/>
          <p:nvPr/>
        </p:nvSpPr>
        <p:spPr>
          <a:xfrm>
            <a:off x="3337560" y="1234440"/>
            <a:ext cx="2743200" cy="3383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37560" y="1234440"/>
            <a:ext cx="2743200" cy="7315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0" y="1554480"/>
            <a:ext cx="2468880" cy="777240"/>
          </a:xfrm>
          <a:prstGeom prst="rect">
            <a:avLst/>
          </a:prstGeom>
          <a:noFill/>
        </p:spPr>
        <p:txBody>
          <a:bodyPr wrap="none">
            <a:spAutoFit/>
          </a:bodyPr>
          <a:lstStyle/>
          <a:p>
            <a:pPr algn="ctr"/>
            <a:r>
              <a:rPr sz="2800" b="1">
                <a:solidFill>
                  <a:srgbClr val="1E3A5F"/>
                </a:solidFill>
                <a:latin typeface="Georgia"/>
              </a:rPr>
              <a:t>0.414</a:t>
            </a:r>
          </a:p>
        </p:txBody>
      </p:sp>
      <p:sp>
        <p:nvSpPr>
          <p:cNvPr id="19" name="TextBox 18"/>
          <p:cNvSpPr txBox="1"/>
          <p:nvPr/>
        </p:nvSpPr>
        <p:spPr>
          <a:xfrm>
            <a:off x="3520440" y="2468880"/>
            <a:ext cx="2377440" cy="1828800"/>
          </a:xfrm>
          <a:prstGeom prst="rect">
            <a:avLst/>
          </a:prstGeom>
          <a:noFill/>
        </p:spPr>
        <p:txBody>
          <a:bodyPr wrap="square">
            <a:spAutoFit/>
          </a:bodyPr>
          <a:lstStyle/>
          <a:p>
            <a:pPr algn="ctr"/>
            <a:r>
              <a:rPr sz="1300" b="0">
                <a:solidFill>
                  <a:srgbClr val="64748B"/>
                </a:solidFill>
                <a:latin typeface="Calibri"/>
              </a:rPr>
              <a:t>ROUGE-1 F1
R-2 0.215 · R-L 0.292
6 gold circulars</a:t>
            </a:r>
          </a:p>
        </p:txBody>
      </p:sp>
      <p:sp>
        <p:nvSpPr>
          <p:cNvPr id="20" name="Rounded Rectangle 19"/>
          <p:cNvSpPr/>
          <p:nvPr/>
        </p:nvSpPr>
        <p:spPr>
          <a:xfrm>
            <a:off x="6217920" y="1234440"/>
            <a:ext cx="2743200" cy="3383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234440"/>
            <a:ext cx="27432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1554480"/>
            <a:ext cx="2468880" cy="777240"/>
          </a:xfrm>
          <a:prstGeom prst="rect">
            <a:avLst/>
          </a:prstGeom>
          <a:noFill/>
        </p:spPr>
        <p:txBody>
          <a:bodyPr wrap="none">
            <a:spAutoFit/>
          </a:bodyPr>
          <a:lstStyle/>
          <a:p>
            <a:pPr algn="ctr"/>
            <a:r>
              <a:rPr sz="2800" b="1">
                <a:solidFill>
                  <a:srgbClr val="1E3A5F"/>
                </a:solidFill>
                <a:latin typeface="Georgia"/>
              </a:rPr>
              <a:t>~114ms</a:t>
            </a:r>
          </a:p>
        </p:txBody>
      </p:sp>
      <p:sp>
        <p:nvSpPr>
          <p:cNvPr id="23" name="TextBox 22"/>
          <p:cNvSpPr txBox="1"/>
          <p:nvPr/>
        </p:nvSpPr>
        <p:spPr>
          <a:xfrm>
            <a:off x="6400800" y="2468880"/>
            <a:ext cx="2377440" cy="1828800"/>
          </a:xfrm>
          <a:prstGeom prst="rect">
            <a:avLst/>
          </a:prstGeom>
          <a:noFill/>
        </p:spPr>
        <p:txBody>
          <a:bodyPr wrap="square">
            <a:spAutoFit/>
          </a:bodyPr>
          <a:lstStyle/>
          <a:p>
            <a:pPr algn="ctr"/>
            <a:r>
              <a:rPr sz="1300" b="0">
                <a:solidFill>
                  <a:srgbClr val="64748B"/>
                </a:solidFill>
                <a:latin typeface="Calibri"/>
              </a:rPr>
              <a:t>Cached re-process
Extract ~1.2s · OCR ~6.8s
Cold LLM 8–15s</a:t>
            </a:r>
          </a:p>
        </p:txBody>
      </p:sp>
      <p:sp>
        <p:nvSpPr>
          <p:cNvPr id="24" name="Rounded Rectangle 23"/>
          <p:cNvSpPr/>
          <p:nvPr/>
        </p:nvSpPr>
        <p:spPr>
          <a:xfrm>
            <a:off x="9098280" y="1234440"/>
            <a:ext cx="2743200" cy="3383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280" y="1234440"/>
            <a:ext cx="27432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1554480"/>
            <a:ext cx="2468880" cy="777240"/>
          </a:xfrm>
          <a:prstGeom prst="rect">
            <a:avLst/>
          </a:prstGeom>
          <a:noFill/>
        </p:spPr>
        <p:txBody>
          <a:bodyPr wrap="none">
            <a:spAutoFit/>
          </a:bodyPr>
          <a:lstStyle/>
          <a:p>
            <a:pPr algn="ctr"/>
            <a:r>
              <a:rPr sz="2800" b="1">
                <a:solidFill>
                  <a:srgbClr val="1E3A5F"/>
                </a:solidFill>
                <a:latin typeface="Georgia"/>
              </a:rPr>
              <a:t>35/35</a:t>
            </a:r>
          </a:p>
        </p:txBody>
      </p:sp>
      <p:sp>
        <p:nvSpPr>
          <p:cNvPr id="27" name="TextBox 26"/>
          <p:cNvSpPr txBox="1"/>
          <p:nvPr/>
        </p:nvSpPr>
        <p:spPr>
          <a:xfrm>
            <a:off x="9281159" y="2468880"/>
            <a:ext cx="2377440" cy="1828800"/>
          </a:xfrm>
          <a:prstGeom prst="rect">
            <a:avLst/>
          </a:prstGeom>
          <a:noFill/>
        </p:spPr>
        <p:txBody>
          <a:bodyPr wrap="square">
            <a:spAutoFit/>
          </a:bodyPr>
          <a:lstStyle/>
          <a:p>
            <a:pPr algn="ctr"/>
            <a:r>
              <a:rPr sz="1300" b="0">
                <a:solidFill>
                  <a:srgbClr val="64748B"/>
                </a:solidFill>
                <a:latin typeface="Calibri"/>
              </a:rPr>
              <a:t>App test suite
+ 91/91 AI pytest
Backend · UI · Functional</a:t>
            </a:r>
          </a:p>
        </p:txBody>
      </p:sp>
      <p:sp>
        <p:nvSpPr>
          <p:cNvPr id="28" name="Rounded Rectangle 27"/>
          <p:cNvSpPr/>
          <p:nvPr/>
        </p:nvSpPr>
        <p:spPr>
          <a:xfrm>
            <a:off x="457200" y="4846320"/>
            <a:ext cx="11155680"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846320"/>
            <a:ext cx="109728" cy="1188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029200"/>
            <a:ext cx="10607040" cy="914400"/>
          </a:xfrm>
          <a:prstGeom prst="rect">
            <a:avLst/>
          </a:prstGeom>
          <a:noFill/>
        </p:spPr>
        <p:txBody>
          <a:bodyPr wrap="square">
            <a:spAutoFit/>
          </a:bodyPr>
          <a:lstStyle/>
          <a:p>
            <a:r>
              <a:rPr sz="1200" b="1">
                <a:solidFill>
                  <a:srgbClr val="D97706"/>
                </a:solidFill>
                <a:latin typeface="Calibri"/>
              </a:rPr>
              <a:t>Caveats</a:t>
            </a:r>
          </a:p>
          <a:p>
            <a:r>
              <a:rPr sz="1300" b="0">
                <a:solidFill>
                  <a:srgbClr val="1F2937"/>
                </a:solidFill>
                <a:latin typeface="Calibri"/>
              </a:rPr>
              <a:t>ROUGE = n-gram overlap vs human briefs, not legal correctness. Formal school-staff UAT still pending. Backend 13/13 · Selenium UI 4/4 · Functional 10/10.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194560" cy="2194560"/>
          </a:xfrm>
          <a:prstGeom prst="ellipse">
            <a:avLst/>
          </a:prstGeom>
          <a:solidFill>
            <a:srgbClr val="E2E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0" y="5303520"/>
            <a:ext cx="1645920" cy="1645920"/>
          </a:xfrm>
          <a:prstGeom prst="ellipse">
            <a:avLst/>
          </a:prstGeom>
          <a:solidFill>
            <a:srgbClr val="E8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0" y="182880"/>
            <a:ext cx="1463040" cy="640080"/>
          </a:xfrm>
          <a:prstGeom prst="rect">
            <a:avLst/>
          </a:prstGeom>
          <a:noFill/>
        </p:spPr>
        <p:txBody>
          <a:bodyPr wrap="none">
            <a:spAutoFit/>
          </a:bodyPr>
          <a:lstStyle/>
          <a:p>
            <a:pPr algn="r"/>
            <a:r>
              <a:rPr sz="3600" b="1">
                <a:solidFill>
                  <a:srgbClr val="D0D8E0"/>
                </a:solidFill>
                <a:latin typeface="Georgia"/>
              </a:rPr>
              <a:t>08</a:t>
            </a:r>
          </a:p>
        </p:txBody>
      </p:sp>
      <p:sp>
        <p:nvSpPr>
          <p:cNvPr id="8" name="TextBox 7"/>
          <p:cNvSpPr txBox="1"/>
          <p:nvPr/>
        </p:nvSpPr>
        <p:spPr>
          <a:xfrm>
            <a:off x="502920" y="256032"/>
            <a:ext cx="9601200" cy="502920"/>
          </a:xfrm>
          <a:prstGeom prst="rect">
            <a:avLst/>
          </a:prstGeom>
          <a:noFill/>
        </p:spPr>
        <p:txBody>
          <a:bodyPr wrap="none">
            <a:spAutoFit/>
          </a:bodyPr>
          <a:lstStyle/>
          <a:p>
            <a:r>
              <a:rPr sz="3000" b="1">
                <a:solidFill>
                  <a:srgbClr val="1E3A5F"/>
                </a:solidFill>
                <a:latin typeface="Georgia"/>
              </a:rPr>
              <a:t>Limitations &amp; Future Work</a:t>
            </a:r>
          </a:p>
        </p:txBody>
      </p:sp>
      <p:sp>
        <p:nvSpPr>
          <p:cNvPr id="9" name="TextBox 8"/>
          <p:cNvSpPr txBox="1"/>
          <p:nvPr/>
        </p:nvSpPr>
        <p:spPr>
          <a:xfrm>
            <a:off x="502920" y="749808"/>
            <a:ext cx="9601200" cy="320040"/>
          </a:xfrm>
          <a:prstGeom prst="rect">
            <a:avLst/>
          </a:prstGeom>
          <a:noFill/>
        </p:spPr>
        <p:txBody>
          <a:bodyPr wrap="none">
            <a:spAutoFit/>
          </a:bodyPr>
          <a:lstStyle/>
          <a:p>
            <a:r>
              <a:rPr sz="1300" b="0">
                <a:solidFill>
                  <a:srgbClr val="0D9488"/>
                </a:solidFill>
                <a:latin typeface="Calibri"/>
              </a:rPr>
              <a:t>Honest scope and next steps</a:t>
            </a:r>
          </a:p>
        </p:txBody>
      </p:sp>
      <p:sp>
        <p:nvSpPr>
          <p:cNvPr id="10" name="Oval 9"/>
          <p:cNvSpPr/>
          <p:nvPr/>
        </p:nvSpPr>
        <p:spPr>
          <a:xfrm>
            <a:off x="502920" y="6510528"/>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19088"/>
            <a:ext cx="3657600" cy="274320"/>
          </a:xfrm>
          <a:prstGeom prst="rect">
            <a:avLst/>
          </a:prstGeom>
          <a:noFill/>
        </p:spPr>
        <p:txBody>
          <a:bodyPr wrap="none">
            <a:spAutoFit/>
          </a:bodyPr>
          <a:lstStyle/>
          <a:p>
            <a:r>
              <a:rPr sz="1100" b="0">
                <a:solidFill>
                  <a:srgbClr val="64748B"/>
                </a:solidFill>
                <a:latin typeface="Calibri"/>
              </a:rPr>
              <a:t>EasyCircular  ·  8/8</a:t>
            </a:r>
          </a:p>
        </p:txBody>
      </p:sp>
      <p:sp>
        <p:nvSpPr>
          <p:cNvPr id="12" name="Rounded Rectangle 11"/>
          <p:cNvSpPr/>
          <p:nvPr/>
        </p:nvSpPr>
        <p:spPr>
          <a:xfrm>
            <a:off x="457200" y="1188720"/>
            <a:ext cx="5440680" cy="4160520"/>
          </a:xfrm>
          <a:prstGeom prst="roundRect">
            <a:avLst>
              <a:gd name="adj" fmla="val 8000"/>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188720"/>
            <a:ext cx="128016" cy="41605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371600"/>
            <a:ext cx="4937760" cy="365760"/>
          </a:xfrm>
          <a:prstGeom prst="rect">
            <a:avLst/>
          </a:prstGeom>
          <a:noFill/>
        </p:spPr>
        <p:txBody>
          <a:bodyPr wrap="none">
            <a:spAutoFit/>
          </a:bodyPr>
          <a:lstStyle/>
          <a:p>
            <a:r>
              <a:rPr sz="1600" b="1">
                <a:solidFill>
                  <a:srgbClr val="D97706"/>
                </a:solidFill>
                <a:latin typeface="Georgia"/>
              </a:rPr>
              <a:t>Limitations &amp; challenges</a:t>
            </a:r>
          </a:p>
        </p:txBody>
      </p:sp>
      <p:sp>
        <p:nvSpPr>
          <p:cNvPr id="15" name="TextBox 14"/>
          <p:cNvSpPr txBox="1"/>
          <p:nvPr/>
        </p:nvSpPr>
        <p:spPr>
          <a:xfrm>
            <a:off x="777240" y="1920240"/>
            <a:ext cx="4937760" cy="3200400"/>
          </a:xfrm>
          <a:prstGeom prst="rect">
            <a:avLst/>
          </a:prstGeom>
          <a:noFill/>
        </p:spPr>
        <p:txBody>
          <a:bodyPr wrap="square">
            <a:spAutoFit/>
          </a:bodyPr>
          <a:lstStyle/>
          <a:p>
            <a:pPr>
              <a:spcAft>
                <a:spcPts val="800"/>
              </a:spcAft>
            </a:pPr>
            <a:r>
              <a:rPr sz="1300" b="0">
                <a:solidFill>
                  <a:srgbClr val="1F2937"/>
                </a:solidFill>
                <a:latin typeface="Calibri"/>
              </a:rPr>
              <a:t>•  Full Sinhala/Tamil NER not yet available (English SpaCy primary)</a:t>
            </a:r>
          </a:p>
          <a:p>
            <a:pPr>
              <a:spcAft>
                <a:spcPts val="800"/>
              </a:spcAft>
            </a:pPr>
            <a:r>
              <a:rPr sz="1300" b="0">
                <a:solidFill>
                  <a:srgbClr val="1F2937"/>
                </a:solidFill>
                <a:latin typeface="Calibri"/>
              </a:rPr>
              <a:t>•  OCR quality varies on scanned Sinhala, mitigated by review</a:t>
            </a:r>
          </a:p>
          <a:p>
            <a:pPr>
              <a:spcAft>
                <a:spcPts val="800"/>
              </a:spcAft>
            </a:pPr>
            <a:r>
              <a:rPr sz="1300" b="0">
                <a:solidFill>
                  <a:srgbClr val="1F2937"/>
                </a:solidFill>
                <a:latin typeface="Calibri"/>
              </a:rPr>
              <a:t>•  Small ROUGE gold set (6); single-annotator briefs</a:t>
            </a:r>
          </a:p>
          <a:p>
            <a:pPr>
              <a:spcAft>
                <a:spcPts val="800"/>
              </a:spcAft>
            </a:pPr>
            <a:r>
              <a:rPr sz="1300" b="0">
                <a:solidFill>
                  <a:srgbClr val="1F2937"/>
                </a:solidFill>
                <a:latin typeface="Calibri"/>
              </a:rPr>
              <a:t>•  Formal school-staff UAT incomplete</a:t>
            </a:r>
          </a:p>
          <a:p>
            <a:pPr>
              <a:spcAft>
                <a:spcPts val="800"/>
              </a:spcAft>
            </a:pPr>
            <a:r>
              <a:rPr sz="1300" b="0">
                <a:solidFill>
                  <a:srgbClr val="1F2937"/>
                </a:solidFill>
                <a:latin typeface="Calibri"/>
              </a:rPr>
              <a:t>•  Guardrails reduce but do not eliminate hallucination</a:t>
            </a:r>
          </a:p>
        </p:txBody>
      </p:sp>
      <p:sp>
        <p:nvSpPr>
          <p:cNvPr id="16" name="Rounded Rectangle 15"/>
          <p:cNvSpPr/>
          <p:nvPr/>
        </p:nvSpPr>
        <p:spPr>
          <a:xfrm>
            <a:off x="6172200" y="1188720"/>
            <a:ext cx="5440680" cy="4160520"/>
          </a:xfrm>
          <a:prstGeom prst="roundRect">
            <a:avLst>
              <a:gd name="adj" fmla="val 8000"/>
            </a:avLst>
          </a:prstGeom>
          <a:solidFill>
            <a:srgbClr val="E6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1188720"/>
            <a:ext cx="128016" cy="4160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371600"/>
            <a:ext cx="4937760" cy="365760"/>
          </a:xfrm>
          <a:prstGeom prst="rect">
            <a:avLst/>
          </a:prstGeom>
          <a:noFill/>
        </p:spPr>
        <p:txBody>
          <a:bodyPr wrap="none">
            <a:spAutoFit/>
          </a:bodyPr>
          <a:lstStyle/>
          <a:p>
            <a:r>
              <a:rPr sz="1600" b="1">
                <a:solidFill>
                  <a:srgbClr val="0D9488"/>
                </a:solidFill>
                <a:latin typeface="Georgia"/>
              </a:rPr>
              <a:t>Future work</a:t>
            </a:r>
          </a:p>
        </p:txBody>
      </p:sp>
      <p:sp>
        <p:nvSpPr>
          <p:cNvPr id="19" name="TextBox 18"/>
          <p:cNvSpPr txBox="1"/>
          <p:nvPr/>
        </p:nvSpPr>
        <p:spPr>
          <a:xfrm>
            <a:off x="6492240" y="1920240"/>
            <a:ext cx="4937760" cy="3200400"/>
          </a:xfrm>
          <a:prstGeom prst="rect">
            <a:avLst/>
          </a:prstGeom>
          <a:noFill/>
        </p:spPr>
        <p:txBody>
          <a:bodyPr wrap="square">
            <a:spAutoFit/>
          </a:bodyPr>
          <a:lstStyle/>
          <a:p>
            <a:pPr>
              <a:spcAft>
                <a:spcPts val="800"/>
              </a:spcAft>
            </a:pPr>
            <a:r>
              <a:rPr sz="1300" b="0">
                <a:solidFill>
                  <a:srgbClr val="1F2937"/>
                </a:solidFill>
                <a:latin typeface="Calibri"/>
              </a:rPr>
              <a:t>•  Full SI/TA NER and bilingual UI</a:t>
            </a:r>
          </a:p>
          <a:p>
            <a:pPr>
              <a:spcAft>
                <a:spcPts val="800"/>
              </a:spcAft>
            </a:pPr>
            <a:r>
              <a:rPr sz="1300" b="0">
                <a:solidFill>
                  <a:srgbClr val="1F2937"/>
                </a:solidFill>
                <a:latin typeface="Calibri"/>
              </a:rPr>
              <a:t>•  Larger gold set + human rating rubrics</a:t>
            </a:r>
          </a:p>
          <a:p>
            <a:pPr>
              <a:spcAft>
                <a:spcPts val="800"/>
              </a:spcAft>
            </a:pPr>
            <a:r>
              <a:rPr sz="1300" b="0">
                <a:solidFill>
                  <a:srgbClr val="1F2937"/>
                </a:solidFill>
                <a:latin typeface="Calibri"/>
              </a:rPr>
              <a:t>•  Async job queue for long documents</a:t>
            </a:r>
          </a:p>
          <a:p>
            <a:pPr>
              <a:spcAft>
                <a:spcPts val="800"/>
              </a:spcAft>
            </a:pPr>
            <a:r>
              <a:rPr sz="1300" b="0">
                <a:solidFill>
                  <a:srgbClr val="1F2937"/>
                </a:solidFill>
                <a:latin typeface="Calibri"/>
              </a:rPr>
              <a:t>•  RBAC and admin analytics</a:t>
            </a:r>
          </a:p>
          <a:p>
            <a:pPr>
              <a:spcAft>
                <a:spcPts val="800"/>
              </a:spcAft>
            </a:pPr>
            <a:r>
              <a:rPr sz="1300" b="0">
                <a:solidFill>
                  <a:srgbClr val="1F2937"/>
                </a:solidFill>
                <a:latin typeface="Calibri"/>
              </a:rPr>
              <a:t>•  Production deploy / optional MOE portal integration</a:t>
            </a:r>
          </a:p>
        </p:txBody>
      </p:sp>
      <p:sp>
        <p:nvSpPr>
          <p:cNvPr id="20" name="TextBox 19"/>
          <p:cNvSpPr txBox="1"/>
          <p:nvPr/>
        </p:nvSpPr>
        <p:spPr>
          <a:xfrm>
            <a:off x="457200" y="5577840"/>
            <a:ext cx="11155680" cy="457200"/>
          </a:xfrm>
          <a:prstGeom prst="rect">
            <a:avLst/>
          </a:prstGeom>
          <a:noFill/>
        </p:spPr>
        <p:txBody>
          <a:bodyPr wrap="none">
            <a:spAutoFit/>
          </a:bodyPr>
          <a:lstStyle/>
          <a:p>
            <a:pPr algn="ctr"/>
            <a:r>
              <a:rPr sz="1400" b="1">
                <a:solidFill>
                  <a:srgbClr val="1E3A5F"/>
                </a:solidFill>
                <a:latin typeface="Georgia"/>
              </a:rPr>
              <a:t>Thank you. Demonstration is in the accompanying video.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